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Lst>
  <p:sldSz cx="18288000" cy="10287000"/>
  <p:notesSz cx="6858000" cy="9144000"/>
  <p:embeddedFontLst>
    <p:embeddedFont>
      <p:font typeface="Inter" charset="1" panose="020B0502030000000004"/>
      <p:regular r:id="rId12"/>
    </p:embeddedFont>
    <p:embeddedFont>
      <p:font typeface="Chunk Five" charset="1" panose="00000500000000000000"/>
      <p:regular r:id="rId13"/>
    </p:embeddedFont>
    <p:embeddedFont>
      <p:font typeface="Inter Bold" charset="1" panose="020B0802030000000004"/>
      <p:regular r:id="rId14"/>
    </p:embeddedFont>
    <p:embeddedFont>
      <p:font typeface="Open Sans" charset="1" panose="020B0606030504020204"/>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fonts/font12.fntdata" Type="http://schemas.openxmlformats.org/officeDocument/2006/relationships/font"/><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jpe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6.svg" Type="http://schemas.openxmlformats.org/officeDocument/2006/relationships/image"/><Relationship Id="rId11" Target="../media/image5.png" Type="http://schemas.openxmlformats.org/officeDocument/2006/relationships/image"/><Relationship Id="rId12" Target="../media/image6.svg" Type="http://schemas.openxmlformats.org/officeDocument/2006/relationships/image"/><Relationship Id="rId13" Target="../media/image7.png" Type="http://schemas.openxmlformats.org/officeDocument/2006/relationships/image"/><Relationship Id="rId14" Target="../media/image8.svg" Type="http://schemas.openxmlformats.org/officeDocument/2006/relationships/image"/><Relationship Id="rId15" Target="../media/image17.pn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1.png" Type="http://schemas.openxmlformats.org/officeDocument/2006/relationships/image"/><Relationship Id="rId6" Target="../media/image12.svg" Type="http://schemas.openxmlformats.org/officeDocument/2006/relationships/image"/><Relationship Id="rId7" Target="../media/image13.png" Type="http://schemas.openxmlformats.org/officeDocument/2006/relationships/image"/><Relationship Id="rId8" Target="../media/image14.svg" Type="http://schemas.openxmlformats.org/officeDocument/2006/relationships/image"/><Relationship Id="rId9" Target="../media/image15.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6.svg" Type="http://schemas.openxmlformats.org/officeDocument/2006/relationships/image"/><Relationship Id="rId11" Target="../media/image5.png" Type="http://schemas.openxmlformats.org/officeDocument/2006/relationships/image"/><Relationship Id="rId12" Target="../media/image6.svg" Type="http://schemas.openxmlformats.org/officeDocument/2006/relationships/image"/><Relationship Id="rId13" Target="../media/image7.png" Type="http://schemas.openxmlformats.org/officeDocument/2006/relationships/image"/><Relationship Id="rId14" Target="../media/image8.svg" Type="http://schemas.openxmlformats.org/officeDocument/2006/relationships/image"/><Relationship Id="rId15" Target="../media/image18.pn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1.png" Type="http://schemas.openxmlformats.org/officeDocument/2006/relationships/image"/><Relationship Id="rId6" Target="../media/image12.svg" Type="http://schemas.openxmlformats.org/officeDocument/2006/relationships/image"/><Relationship Id="rId7" Target="../media/image13.png" Type="http://schemas.openxmlformats.org/officeDocument/2006/relationships/image"/><Relationship Id="rId8" Target="../media/image14.svg" Type="http://schemas.openxmlformats.org/officeDocument/2006/relationships/image"/><Relationship Id="rId9" Target="../media/image1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5.png" Type="http://schemas.openxmlformats.org/officeDocument/2006/relationships/image"/><Relationship Id="rId4" Target="../media/image16.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 Id="rId9" Target="../media/image19.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svg" Type="http://schemas.openxmlformats.org/officeDocument/2006/relationships/image"/><Relationship Id="rId11" Target="../media/image22.png" Type="http://schemas.openxmlformats.org/officeDocument/2006/relationships/image"/><Relationship Id="rId2" Target="../media/image1.jpeg" Type="http://schemas.openxmlformats.org/officeDocument/2006/relationships/image"/><Relationship Id="rId3" Target="../media/image15.png" Type="http://schemas.openxmlformats.org/officeDocument/2006/relationships/image"/><Relationship Id="rId4" Target="../media/image16.svg" Type="http://schemas.openxmlformats.org/officeDocument/2006/relationships/image"/><Relationship Id="rId5" Target="../media/image20.png" Type="http://schemas.openxmlformats.org/officeDocument/2006/relationships/image"/><Relationship Id="rId6" Target="../media/image21.svg" Type="http://schemas.openxmlformats.org/officeDocument/2006/relationships/image"/><Relationship Id="rId7" Target="../media/image7.png" Type="http://schemas.openxmlformats.org/officeDocument/2006/relationships/image"/><Relationship Id="rId8" Target="../media/image8.svg" Type="http://schemas.openxmlformats.org/officeDocument/2006/relationships/image"/><Relationship Id="rId9" Target="../media/image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jpe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1523789" y="2195697"/>
            <a:ext cx="5860604" cy="2003261"/>
          </a:xfrm>
          <a:custGeom>
            <a:avLst/>
            <a:gdLst/>
            <a:ahLst/>
            <a:cxnLst/>
            <a:rect r="r" b="b" t="t" l="l"/>
            <a:pathLst>
              <a:path h="2003261" w="5860604">
                <a:moveTo>
                  <a:pt x="0" y="0"/>
                </a:moveTo>
                <a:lnTo>
                  <a:pt x="5860604" y="0"/>
                </a:lnTo>
                <a:lnTo>
                  <a:pt x="5860604" y="2003262"/>
                </a:lnTo>
                <a:lnTo>
                  <a:pt x="0" y="200326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2628900" y="1698490"/>
            <a:ext cx="7315200" cy="2500468"/>
          </a:xfrm>
          <a:custGeom>
            <a:avLst/>
            <a:gdLst/>
            <a:ahLst/>
            <a:cxnLst/>
            <a:rect r="r" b="b" t="t" l="l"/>
            <a:pathLst>
              <a:path h="2500468" w="7315200">
                <a:moveTo>
                  <a:pt x="0" y="0"/>
                </a:moveTo>
                <a:lnTo>
                  <a:pt x="7315200" y="0"/>
                </a:lnTo>
                <a:lnTo>
                  <a:pt x="7315200" y="2500469"/>
                </a:lnTo>
                <a:lnTo>
                  <a:pt x="0" y="250046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5250395" y="7097517"/>
            <a:ext cx="7315200" cy="2500468"/>
          </a:xfrm>
          <a:custGeom>
            <a:avLst/>
            <a:gdLst/>
            <a:ahLst/>
            <a:cxnLst/>
            <a:rect r="r" b="b" t="t" l="l"/>
            <a:pathLst>
              <a:path h="2500468" w="7315200">
                <a:moveTo>
                  <a:pt x="0" y="0"/>
                </a:moveTo>
                <a:lnTo>
                  <a:pt x="7315200" y="0"/>
                </a:lnTo>
                <a:lnTo>
                  <a:pt x="7315200" y="2500468"/>
                </a:lnTo>
                <a:lnTo>
                  <a:pt x="0" y="250046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3883068" y="8008066"/>
            <a:ext cx="7315200" cy="2500468"/>
          </a:xfrm>
          <a:custGeom>
            <a:avLst/>
            <a:gdLst/>
            <a:ahLst/>
            <a:cxnLst/>
            <a:rect r="r" b="b" t="t" l="l"/>
            <a:pathLst>
              <a:path h="2500468" w="7315200">
                <a:moveTo>
                  <a:pt x="0" y="0"/>
                </a:moveTo>
                <a:lnTo>
                  <a:pt x="7315200" y="0"/>
                </a:lnTo>
                <a:lnTo>
                  <a:pt x="7315200" y="2500468"/>
                </a:lnTo>
                <a:lnTo>
                  <a:pt x="0" y="250046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6661410" y="-1032184"/>
            <a:ext cx="7315200" cy="2500468"/>
          </a:xfrm>
          <a:custGeom>
            <a:avLst/>
            <a:gdLst/>
            <a:ahLst/>
            <a:cxnLst/>
            <a:rect r="r" b="b" t="t" l="l"/>
            <a:pathLst>
              <a:path h="2500468" w="7315200">
                <a:moveTo>
                  <a:pt x="0" y="0"/>
                </a:moveTo>
                <a:lnTo>
                  <a:pt x="7315200" y="0"/>
                </a:lnTo>
                <a:lnTo>
                  <a:pt x="7315200" y="2500468"/>
                </a:lnTo>
                <a:lnTo>
                  <a:pt x="0" y="250046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2277569" y="1281132"/>
            <a:ext cx="13732863" cy="7724735"/>
          </a:xfrm>
          <a:custGeom>
            <a:avLst/>
            <a:gdLst/>
            <a:ahLst/>
            <a:cxnLst/>
            <a:rect r="r" b="b" t="t" l="l"/>
            <a:pathLst>
              <a:path h="7724735" w="13732863">
                <a:moveTo>
                  <a:pt x="0" y="0"/>
                </a:moveTo>
                <a:lnTo>
                  <a:pt x="13732862" y="0"/>
                </a:lnTo>
                <a:lnTo>
                  <a:pt x="13732862" y="7724736"/>
                </a:lnTo>
                <a:lnTo>
                  <a:pt x="0" y="7724736"/>
                </a:lnTo>
                <a:lnTo>
                  <a:pt x="0" y="0"/>
                </a:lnTo>
                <a:close/>
              </a:path>
            </a:pathLst>
          </a:custGeom>
          <a:blipFill>
            <a:blip r:embed="rId5"/>
            <a:stretch>
              <a:fillRect l="0" t="0" r="0" b="0"/>
            </a:stretch>
          </a:blipFill>
        </p:spPr>
      </p:sp>
      <p:grpSp>
        <p:nvGrpSpPr>
          <p:cNvPr name="Group 9" id="9"/>
          <p:cNvGrpSpPr/>
          <p:nvPr/>
        </p:nvGrpSpPr>
        <p:grpSpPr>
          <a:xfrm rot="0">
            <a:off x="6496459" y="6158268"/>
            <a:ext cx="5027330" cy="1878497"/>
            <a:chOff x="0" y="0"/>
            <a:chExt cx="1324070" cy="494748"/>
          </a:xfrm>
        </p:grpSpPr>
        <p:sp>
          <p:nvSpPr>
            <p:cNvPr name="Freeform 10" id="10"/>
            <p:cNvSpPr/>
            <p:nvPr/>
          </p:nvSpPr>
          <p:spPr>
            <a:xfrm flipH="false" flipV="false" rot="0">
              <a:off x="0" y="0"/>
              <a:ext cx="1324070" cy="494748"/>
            </a:xfrm>
            <a:custGeom>
              <a:avLst/>
              <a:gdLst/>
              <a:ahLst/>
              <a:cxnLst/>
              <a:rect r="r" b="b" t="t" l="l"/>
              <a:pathLst>
                <a:path h="494748" w="1324070">
                  <a:moveTo>
                    <a:pt x="30799" y="0"/>
                  </a:moveTo>
                  <a:lnTo>
                    <a:pt x="1293271" y="0"/>
                  </a:lnTo>
                  <a:cubicBezTo>
                    <a:pt x="1301440" y="0"/>
                    <a:pt x="1309274" y="3245"/>
                    <a:pt x="1315050" y="9021"/>
                  </a:cubicBezTo>
                  <a:cubicBezTo>
                    <a:pt x="1320825" y="14797"/>
                    <a:pt x="1324070" y="22631"/>
                    <a:pt x="1324070" y="30799"/>
                  </a:cubicBezTo>
                  <a:lnTo>
                    <a:pt x="1324070" y="463949"/>
                  </a:lnTo>
                  <a:cubicBezTo>
                    <a:pt x="1324070" y="472117"/>
                    <a:pt x="1320825" y="479951"/>
                    <a:pt x="1315050" y="485727"/>
                  </a:cubicBezTo>
                  <a:cubicBezTo>
                    <a:pt x="1309274" y="491503"/>
                    <a:pt x="1301440" y="494748"/>
                    <a:pt x="1293271" y="494748"/>
                  </a:cubicBezTo>
                  <a:lnTo>
                    <a:pt x="30799" y="494748"/>
                  </a:lnTo>
                  <a:cubicBezTo>
                    <a:pt x="22631" y="494748"/>
                    <a:pt x="14797" y="491503"/>
                    <a:pt x="9021" y="485727"/>
                  </a:cubicBezTo>
                  <a:cubicBezTo>
                    <a:pt x="3245" y="479951"/>
                    <a:pt x="0" y="472117"/>
                    <a:pt x="0" y="463949"/>
                  </a:cubicBezTo>
                  <a:lnTo>
                    <a:pt x="0" y="30799"/>
                  </a:lnTo>
                  <a:cubicBezTo>
                    <a:pt x="0" y="22631"/>
                    <a:pt x="3245" y="14797"/>
                    <a:pt x="9021" y="9021"/>
                  </a:cubicBezTo>
                  <a:cubicBezTo>
                    <a:pt x="14797" y="3245"/>
                    <a:pt x="22631" y="0"/>
                    <a:pt x="30799" y="0"/>
                  </a:cubicBezTo>
                  <a:close/>
                </a:path>
              </a:pathLst>
            </a:custGeom>
            <a:solidFill>
              <a:srgbClr val="FFB5EA"/>
            </a:solidFill>
            <a:ln w="28575" cap="sq">
              <a:solidFill>
                <a:srgbClr val="313131"/>
              </a:solidFill>
              <a:prstDash val="solid"/>
              <a:miter/>
            </a:ln>
          </p:spPr>
        </p:sp>
        <p:sp>
          <p:nvSpPr>
            <p:cNvPr name="TextBox 11" id="11"/>
            <p:cNvSpPr txBox="true"/>
            <p:nvPr/>
          </p:nvSpPr>
          <p:spPr>
            <a:xfrm>
              <a:off x="0" y="-38100"/>
              <a:ext cx="1324070" cy="532848"/>
            </a:xfrm>
            <a:prstGeom prst="rect">
              <a:avLst/>
            </a:prstGeom>
          </p:spPr>
          <p:txBody>
            <a:bodyPr anchor="ctr" rtlCol="false" tIns="50800" lIns="50800" bIns="50800" rIns="50800"/>
            <a:lstStyle/>
            <a:p>
              <a:pPr algn="ctr">
                <a:lnSpc>
                  <a:spcPts val="2659"/>
                </a:lnSpc>
                <a:spcBef>
                  <a:spcPct val="0"/>
                </a:spcBef>
              </a:pPr>
            </a:p>
          </p:txBody>
        </p:sp>
      </p:grpSp>
      <p:sp>
        <p:nvSpPr>
          <p:cNvPr name="TextBox 12" id="12"/>
          <p:cNvSpPr txBox="true"/>
          <p:nvPr/>
        </p:nvSpPr>
        <p:spPr>
          <a:xfrm rot="0">
            <a:off x="6543489" y="6267910"/>
            <a:ext cx="4980300" cy="487529"/>
          </a:xfrm>
          <a:prstGeom prst="rect">
            <a:avLst/>
          </a:prstGeom>
        </p:spPr>
        <p:txBody>
          <a:bodyPr anchor="t" rtlCol="false" tIns="0" lIns="0" bIns="0" rIns="0">
            <a:spAutoFit/>
          </a:bodyPr>
          <a:lstStyle/>
          <a:p>
            <a:pPr algn="ctr" marL="0" indent="0" lvl="0">
              <a:lnSpc>
                <a:spcPts val="3977"/>
              </a:lnSpc>
              <a:spcBef>
                <a:spcPct val="0"/>
              </a:spcBef>
            </a:pPr>
            <a:r>
              <a:rPr lang="en-US" sz="2840">
                <a:solidFill>
                  <a:srgbClr val="000000"/>
                </a:solidFill>
                <a:latin typeface="Inter"/>
                <a:ea typeface="Inter"/>
                <a:cs typeface="Inter"/>
                <a:sym typeface="Inter"/>
              </a:rPr>
              <a:t>NAMA: Muhammad Rafi</a:t>
            </a:r>
          </a:p>
        </p:txBody>
      </p:sp>
      <p:sp>
        <p:nvSpPr>
          <p:cNvPr name="Freeform 13" id="13"/>
          <p:cNvSpPr/>
          <p:nvPr/>
        </p:nvSpPr>
        <p:spPr>
          <a:xfrm flipH="false" flipV="false" rot="-2478875">
            <a:off x="13089608" y="6432818"/>
            <a:ext cx="594968" cy="798957"/>
          </a:xfrm>
          <a:custGeom>
            <a:avLst/>
            <a:gdLst/>
            <a:ahLst/>
            <a:cxnLst/>
            <a:rect r="r" b="b" t="t" l="l"/>
            <a:pathLst>
              <a:path h="798957" w="594968">
                <a:moveTo>
                  <a:pt x="0" y="0"/>
                </a:moveTo>
                <a:lnTo>
                  <a:pt x="594968" y="0"/>
                </a:lnTo>
                <a:lnTo>
                  <a:pt x="594968" y="798957"/>
                </a:lnTo>
                <a:lnTo>
                  <a:pt x="0" y="79895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false" flipV="false" rot="707332">
            <a:off x="13741329" y="2702740"/>
            <a:ext cx="618235" cy="989177"/>
          </a:xfrm>
          <a:custGeom>
            <a:avLst/>
            <a:gdLst/>
            <a:ahLst/>
            <a:cxnLst/>
            <a:rect r="r" b="b" t="t" l="l"/>
            <a:pathLst>
              <a:path h="989177" w="618235">
                <a:moveTo>
                  <a:pt x="0" y="0"/>
                </a:moveTo>
                <a:lnTo>
                  <a:pt x="618235" y="0"/>
                </a:lnTo>
                <a:lnTo>
                  <a:pt x="618235" y="989176"/>
                </a:lnTo>
                <a:lnTo>
                  <a:pt x="0" y="98917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5" id="15"/>
          <p:cNvSpPr/>
          <p:nvPr/>
        </p:nvSpPr>
        <p:spPr>
          <a:xfrm flipH="false" flipV="false" rot="69513">
            <a:off x="1550777" y="5725804"/>
            <a:ext cx="2170896" cy="1911684"/>
          </a:xfrm>
          <a:custGeom>
            <a:avLst/>
            <a:gdLst/>
            <a:ahLst/>
            <a:cxnLst/>
            <a:rect r="r" b="b" t="t" l="l"/>
            <a:pathLst>
              <a:path h="1911684" w="2170896">
                <a:moveTo>
                  <a:pt x="0" y="0"/>
                </a:moveTo>
                <a:lnTo>
                  <a:pt x="2170895" y="0"/>
                </a:lnTo>
                <a:lnTo>
                  <a:pt x="2170895" y="1911684"/>
                </a:lnTo>
                <a:lnTo>
                  <a:pt x="0" y="191168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6" id="16"/>
          <p:cNvSpPr txBox="true"/>
          <p:nvPr/>
        </p:nvSpPr>
        <p:spPr>
          <a:xfrm rot="0">
            <a:off x="3612513" y="3197328"/>
            <a:ext cx="11062974" cy="3110464"/>
          </a:xfrm>
          <a:prstGeom prst="rect">
            <a:avLst/>
          </a:prstGeom>
        </p:spPr>
        <p:txBody>
          <a:bodyPr anchor="t" rtlCol="false" tIns="0" lIns="0" bIns="0" rIns="0">
            <a:spAutoFit/>
          </a:bodyPr>
          <a:lstStyle/>
          <a:p>
            <a:pPr algn="ctr">
              <a:lnSpc>
                <a:spcPts val="7685"/>
              </a:lnSpc>
            </a:pPr>
            <a:r>
              <a:rPr lang="en-US" sz="7609">
                <a:solidFill>
                  <a:srgbClr val="000000"/>
                </a:solidFill>
                <a:latin typeface="Chunk Five"/>
                <a:ea typeface="Chunk Five"/>
                <a:cs typeface="Chunk Five"/>
                <a:sym typeface="Chunk Five"/>
              </a:rPr>
              <a:t>"BREWING SUCCESS: DATA-DRIVEN STRATEGY”</a:t>
            </a:r>
          </a:p>
        </p:txBody>
      </p:sp>
      <p:sp>
        <p:nvSpPr>
          <p:cNvPr name="TextBox 17" id="17"/>
          <p:cNvSpPr txBox="true"/>
          <p:nvPr/>
        </p:nvSpPr>
        <p:spPr>
          <a:xfrm rot="0">
            <a:off x="6475384" y="6707814"/>
            <a:ext cx="4914529" cy="1190679"/>
          </a:xfrm>
          <a:prstGeom prst="rect">
            <a:avLst/>
          </a:prstGeom>
        </p:spPr>
        <p:txBody>
          <a:bodyPr anchor="t" rtlCol="false" tIns="0" lIns="0" bIns="0" rIns="0">
            <a:spAutoFit/>
          </a:bodyPr>
          <a:lstStyle/>
          <a:p>
            <a:pPr algn="ctr">
              <a:lnSpc>
                <a:spcPts val="3167"/>
              </a:lnSpc>
            </a:pPr>
            <a:r>
              <a:rPr lang="en-US" sz="2262">
                <a:solidFill>
                  <a:srgbClr val="000000"/>
                </a:solidFill>
                <a:latin typeface="Inter"/>
                <a:ea typeface="Inter"/>
                <a:cs typeface="Inter"/>
                <a:sym typeface="Inter"/>
              </a:rPr>
              <a:t>1252002013</a:t>
            </a:r>
          </a:p>
          <a:p>
            <a:pPr algn="ctr">
              <a:lnSpc>
                <a:spcPts val="3167"/>
              </a:lnSpc>
            </a:pPr>
            <a:r>
              <a:rPr lang="en-US" sz="2262">
                <a:solidFill>
                  <a:srgbClr val="000000"/>
                </a:solidFill>
                <a:latin typeface="Inter"/>
                <a:ea typeface="Inter"/>
                <a:cs typeface="Inter"/>
                <a:sym typeface="Inter"/>
              </a:rPr>
              <a:t>Pengantar Teknologi Informasi</a:t>
            </a:r>
          </a:p>
          <a:p>
            <a:pPr algn="ctr" marL="0" indent="0" lvl="0">
              <a:lnSpc>
                <a:spcPts val="3167"/>
              </a:lnSpc>
              <a:spcBef>
                <a:spcPct val="0"/>
              </a:spcBef>
            </a:pPr>
            <a:r>
              <a:rPr lang="en-US" sz="2262">
                <a:solidFill>
                  <a:srgbClr val="000000"/>
                </a:solidFill>
                <a:latin typeface="Inter"/>
                <a:ea typeface="Inter"/>
                <a:cs typeface="Inter"/>
                <a:sym typeface="Inter"/>
              </a:rPr>
              <a:t>2025</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6714101" y="-553834"/>
            <a:ext cx="7315200" cy="2500468"/>
          </a:xfrm>
          <a:custGeom>
            <a:avLst/>
            <a:gdLst/>
            <a:ahLst/>
            <a:cxnLst/>
            <a:rect r="r" b="b" t="t" l="l"/>
            <a:pathLst>
              <a:path h="2500468" w="7315200">
                <a:moveTo>
                  <a:pt x="0" y="0"/>
                </a:moveTo>
                <a:lnTo>
                  <a:pt x="7315200" y="0"/>
                </a:lnTo>
                <a:lnTo>
                  <a:pt x="7315200" y="2500468"/>
                </a:lnTo>
                <a:lnTo>
                  <a:pt x="0" y="250046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0382250" y="894240"/>
            <a:ext cx="6080609" cy="8713451"/>
          </a:xfrm>
          <a:custGeom>
            <a:avLst/>
            <a:gdLst/>
            <a:ahLst/>
            <a:cxnLst/>
            <a:rect r="r" b="b" t="t" l="l"/>
            <a:pathLst>
              <a:path h="8713451" w="6080609">
                <a:moveTo>
                  <a:pt x="0" y="0"/>
                </a:moveTo>
                <a:lnTo>
                  <a:pt x="6080609" y="0"/>
                </a:lnTo>
                <a:lnTo>
                  <a:pt x="6080609" y="8713450"/>
                </a:lnTo>
                <a:lnTo>
                  <a:pt x="0" y="871345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402842" y="2839413"/>
            <a:ext cx="7593823" cy="2411552"/>
          </a:xfrm>
          <a:custGeom>
            <a:avLst/>
            <a:gdLst/>
            <a:ahLst/>
            <a:cxnLst/>
            <a:rect r="r" b="b" t="t" l="l"/>
            <a:pathLst>
              <a:path h="2411552" w="7593823">
                <a:moveTo>
                  <a:pt x="0" y="0"/>
                </a:moveTo>
                <a:lnTo>
                  <a:pt x="7593823" y="0"/>
                </a:lnTo>
                <a:lnTo>
                  <a:pt x="7593823" y="2411552"/>
                </a:lnTo>
                <a:lnTo>
                  <a:pt x="0" y="241155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6" id="6"/>
          <p:cNvGrpSpPr/>
          <p:nvPr/>
        </p:nvGrpSpPr>
        <p:grpSpPr>
          <a:xfrm rot="0">
            <a:off x="1402842" y="3292562"/>
            <a:ext cx="7584298" cy="5200829"/>
            <a:chOff x="0" y="0"/>
            <a:chExt cx="1997511" cy="1369766"/>
          </a:xfrm>
        </p:grpSpPr>
        <p:sp>
          <p:nvSpPr>
            <p:cNvPr name="Freeform 7" id="7"/>
            <p:cNvSpPr/>
            <p:nvPr/>
          </p:nvSpPr>
          <p:spPr>
            <a:xfrm flipH="false" flipV="false" rot="0">
              <a:off x="0" y="0"/>
              <a:ext cx="1997510" cy="1369766"/>
            </a:xfrm>
            <a:custGeom>
              <a:avLst/>
              <a:gdLst/>
              <a:ahLst/>
              <a:cxnLst/>
              <a:rect r="r" b="b" t="t" l="l"/>
              <a:pathLst>
                <a:path h="1369766" w="1997510">
                  <a:moveTo>
                    <a:pt x="12249" y="0"/>
                  </a:moveTo>
                  <a:lnTo>
                    <a:pt x="1985261" y="0"/>
                  </a:lnTo>
                  <a:cubicBezTo>
                    <a:pt x="1992026" y="0"/>
                    <a:pt x="1997510" y="5484"/>
                    <a:pt x="1997510" y="12249"/>
                  </a:cubicBezTo>
                  <a:lnTo>
                    <a:pt x="1997510" y="1357516"/>
                  </a:lnTo>
                  <a:cubicBezTo>
                    <a:pt x="1997510" y="1364282"/>
                    <a:pt x="1992026" y="1369766"/>
                    <a:pt x="1985261" y="1369766"/>
                  </a:cubicBezTo>
                  <a:lnTo>
                    <a:pt x="12249" y="1369766"/>
                  </a:lnTo>
                  <a:cubicBezTo>
                    <a:pt x="5484" y="1369766"/>
                    <a:pt x="0" y="1364282"/>
                    <a:pt x="0" y="1357516"/>
                  </a:cubicBezTo>
                  <a:lnTo>
                    <a:pt x="0" y="12249"/>
                  </a:lnTo>
                  <a:cubicBezTo>
                    <a:pt x="0" y="5484"/>
                    <a:pt x="5484" y="0"/>
                    <a:pt x="12249" y="0"/>
                  </a:cubicBezTo>
                  <a:close/>
                </a:path>
              </a:pathLst>
            </a:custGeom>
            <a:solidFill>
              <a:srgbClr val="FFF6F0"/>
            </a:solidFill>
            <a:ln w="19050" cap="sq">
              <a:solidFill>
                <a:srgbClr val="006E85"/>
              </a:solidFill>
              <a:prstDash val="solid"/>
              <a:miter/>
            </a:ln>
          </p:spPr>
        </p:sp>
        <p:sp>
          <p:nvSpPr>
            <p:cNvPr name="TextBox 8" id="8"/>
            <p:cNvSpPr txBox="true"/>
            <p:nvPr/>
          </p:nvSpPr>
          <p:spPr>
            <a:xfrm>
              <a:off x="0" y="-38100"/>
              <a:ext cx="1997511" cy="1407866"/>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7366741" y="4667728"/>
            <a:ext cx="475772" cy="475772"/>
            <a:chOff x="0" y="0"/>
            <a:chExt cx="812800" cy="812800"/>
          </a:xfrm>
        </p:grpSpPr>
        <p:sp>
          <p:nvSpPr>
            <p:cNvPr name="Freeform 10" id="10"/>
            <p:cNvSpPr/>
            <p:nvPr/>
          </p:nvSpPr>
          <p:spPr>
            <a:xfrm flipH="false" flipV="false" rot="0">
              <a:off x="62178" y="62178"/>
              <a:ext cx="688445" cy="688445"/>
            </a:xfrm>
            <a:custGeom>
              <a:avLst/>
              <a:gdLst/>
              <a:ahLst/>
              <a:cxnLst/>
              <a:rect r="r" b="b" t="t" l="l"/>
              <a:pathLst>
                <a:path h="688445" w="688445">
                  <a:moveTo>
                    <a:pt x="385512" y="26295"/>
                  </a:moveTo>
                  <a:lnTo>
                    <a:pt x="432247" y="126434"/>
                  </a:lnTo>
                  <a:cubicBezTo>
                    <a:pt x="458920" y="183585"/>
                    <a:pt x="504859" y="229524"/>
                    <a:pt x="562010" y="256197"/>
                  </a:cubicBezTo>
                  <a:lnTo>
                    <a:pt x="662149" y="302932"/>
                  </a:lnTo>
                  <a:cubicBezTo>
                    <a:pt x="678191" y="310418"/>
                    <a:pt x="688444" y="326519"/>
                    <a:pt x="688444" y="344222"/>
                  </a:cubicBezTo>
                  <a:cubicBezTo>
                    <a:pt x="688444" y="361925"/>
                    <a:pt x="678191" y="378026"/>
                    <a:pt x="662149" y="385512"/>
                  </a:cubicBezTo>
                  <a:lnTo>
                    <a:pt x="562010" y="432247"/>
                  </a:lnTo>
                  <a:cubicBezTo>
                    <a:pt x="504859" y="458920"/>
                    <a:pt x="458920" y="504859"/>
                    <a:pt x="432247" y="562010"/>
                  </a:cubicBezTo>
                  <a:lnTo>
                    <a:pt x="385512" y="662149"/>
                  </a:lnTo>
                  <a:cubicBezTo>
                    <a:pt x="378026" y="678191"/>
                    <a:pt x="361925" y="688444"/>
                    <a:pt x="344222" y="688444"/>
                  </a:cubicBezTo>
                  <a:cubicBezTo>
                    <a:pt x="326519" y="688444"/>
                    <a:pt x="310418" y="678191"/>
                    <a:pt x="302932" y="662149"/>
                  </a:cubicBezTo>
                  <a:lnTo>
                    <a:pt x="256197" y="562010"/>
                  </a:lnTo>
                  <a:cubicBezTo>
                    <a:pt x="229524" y="504859"/>
                    <a:pt x="183585" y="458920"/>
                    <a:pt x="126434" y="432247"/>
                  </a:cubicBezTo>
                  <a:lnTo>
                    <a:pt x="26295" y="385512"/>
                  </a:lnTo>
                  <a:cubicBezTo>
                    <a:pt x="10253" y="378026"/>
                    <a:pt x="0" y="361925"/>
                    <a:pt x="0" y="344222"/>
                  </a:cubicBezTo>
                  <a:cubicBezTo>
                    <a:pt x="0" y="326519"/>
                    <a:pt x="10253" y="310418"/>
                    <a:pt x="26295" y="302932"/>
                  </a:cubicBezTo>
                  <a:lnTo>
                    <a:pt x="126434" y="256197"/>
                  </a:lnTo>
                  <a:cubicBezTo>
                    <a:pt x="183585" y="229524"/>
                    <a:pt x="229524" y="183585"/>
                    <a:pt x="256197" y="126434"/>
                  </a:cubicBezTo>
                  <a:lnTo>
                    <a:pt x="302932" y="26295"/>
                  </a:lnTo>
                  <a:cubicBezTo>
                    <a:pt x="310418" y="10253"/>
                    <a:pt x="326519" y="0"/>
                    <a:pt x="344222" y="0"/>
                  </a:cubicBezTo>
                  <a:cubicBezTo>
                    <a:pt x="361925" y="0"/>
                    <a:pt x="378026" y="10253"/>
                    <a:pt x="385512" y="26295"/>
                  </a:cubicBezTo>
                  <a:close/>
                </a:path>
              </a:pathLst>
            </a:custGeom>
            <a:solidFill>
              <a:srgbClr val="D6EAF4"/>
            </a:solidFill>
            <a:ln w="38100" cap="sq">
              <a:solidFill>
                <a:srgbClr val="CFCDFF"/>
              </a:solidFill>
              <a:prstDash val="solid"/>
              <a:miter/>
            </a:ln>
          </p:spPr>
        </p:sp>
        <p:sp>
          <p:nvSpPr>
            <p:cNvPr name="TextBox 11" id="11"/>
            <p:cNvSpPr txBox="true"/>
            <p:nvPr/>
          </p:nvSpPr>
          <p:spPr>
            <a:xfrm>
              <a:off x="190500" y="152400"/>
              <a:ext cx="431800" cy="469900"/>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381286">
            <a:off x="347493" y="1042500"/>
            <a:ext cx="475772" cy="475772"/>
            <a:chOff x="0" y="0"/>
            <a:chExt cx="812800" cy="812800"/>
          </a:xfrm>
        </p:grpSpPr>
        <p:sp>
          <p:nvSpPr>
            <p:cNvPr name="Freeform 13" id="13"/>
            <p:cNvSpPr/>
            <p:nvPr/>
          </p:nvSpPr>
          <p:spPr>
            <a:xfrm flipH="false" flipV="false" rot="0">
              <a:off x="62178" y="62178"/>
              <a:ext cx="688445" cy="688445"/>
            </a:xfrm>
            <a:custGeom>
              <a:avLst/>
              <a:gdLst/>
              <a:ahLst/>
              <a:cxnLst/>
              <a:rect r="r" b="b" t="t" l="l"/>
              <a:pathLst>
                <a:path h="688445" w="688445">
                  <a:moveTo>
                    <a:pt x="385512" y="26295"/>
                  </a:moveTo>
                  <a:lnTo>
                    <a:pt x="432247" y="126434"/>
                  </a:lnTo>
                  <a:cubicBezTo>
                    <a:pt x="458920" y="183585"/>
                    <a:pt x="504859" y="229524"/>
                    <a:pt x="562010" y="256197"/>
                  </a:cubicBezTo>
                  <a:lnTo>
                    <a:pt x="662149" y="302932"/>
                  </a:lnTo>
                  <a:cubicBezTo>
                    <a:pt x="678191" y="310418"/>
                    <a:pt x="688444" y="326519"/>
                    <a:pt x="688444" y="344222"/>
                  </a:cubicBezTo>
                  <a:cubicBezTo>
                    <a:pt x="688444" y="361925"/>
                    <a:pt x="678191" y="378026"/>
                    <a:pt x="662149" y="385512"/>
                  </a:cubicBezTo>
                  <a:lnTo>
                    <a:pt x="562010" y="432247"/>
                  </a:lnTo>
                  <a:cubicBezTo>
                    <a:pt x="504859" y="458920"/>
                    <a:pt x="458920" y="504859"/>
                    <a:pt x="432247" y="562010"/>
                  </a:cubicBezTo>
                  <a:lnTo>
                    <a:pt x="385512" y="662149"/>
                  </a:lnTo>
                  <a:cubicBezTo>
                    <a:pt x="378026" y="678191"/>
                    <a:pt x="361925" y="688444"/>
                    <a:pt x="344222" y="688444"/>
                  </a:cubicBezTo>
                  <a:cubicBezTo>
                    <a:pt x="326519" y="688444"/>
                    <a:pt x="310418" y="678191"/>
                    <a:pt x="302932" y="662149"/>
                  </a:cubicBezTo>
                  <a:lnTo>
                    <a:pt x="256197" y="562010"/>
                  </a:lnTo>
                  <a:cubicBezTo>
                    <a:pt x="229524" y="504859"/>
                    <a:pt x="183585" y="458920"/>
                    <a:pt x="126434" y="432247"/>
                  </a:cubicBezTo>
                  <a:lnTo>
                    <a:pt x="26295" y="385512"/>
                  </a:lnTo>
                  <a:cubicBezTo>
                    <a:pt x="10253" y="378026"/>
                    <a:pt x="0" y="361925"/>
                    <a:pt x="0" y="344222"/>
                  </a:cubicBezTo>
                  <a:cubicBezTo>
                    <a:pt x="0" y="326519"/>
                    <a:pt x="10253" y="310418"/>
                    <a:pt x="26295" y="302932"/>
                  </a:cubicBezTo>
                  <a:lnTo>
                    <a:pt x="126434" y="256197"/>
                  </a:lnTo>
                  <a:cubicBezTo>
                    <a:pt x="183585" y="229524"/>
                    <a:pt x="229524" y="183585"/>
                    <a:pt x="256197" y="126434"/>
                  </a:cubicBezTo>
                  <a:lnTo>
                    <a:pt x="302932" y="26295"/>
                  </a:lnTo>
                  <a:cubicBezTo>
                    <a:pt x="310418" y="10253"/>
                    <a:pt x="326519" y="0"/>
                    <a:pt x="344222" y="0"/>
                  </a:cubicBezTo>
                  <a:cubicBezTo>
                    <a:pt x="361925" y="0"/>
                    <a:pt x="378026" y="10253"/>
                    <a:pt x="385512" y="26295"/>
                  </a:cubicBezTo>
                  <a:close/>
                </a:path>
              </a:pathLst>
            </a:custGeom>
            <a:solidFill>
              <a:srgbClr val="D9F4D6"/>
            </a:solidFill>
            <a:ln w="38100" cap="sq">
              <a:solidFill>
                <a:srgbClr val="CFCDFF"/>
              </a:solidFill>
              <a:prstDash val="solid"/>
              <a:miter/>
            </a:ln>
          </p:spPr>
        </p:sp>
        <p:sp>
          <p:nvSpPr>
            <p:cNvPr name="TextBox 14" id="14"/>
            <p:cNvSpPr txBox="true"/>
            <p:nvPr/>
          </p:nvSpPr>
          <p:spPr>
            <a:xfrm>
              <a:off x="190500" y="152400"/>
              <a:ext cx="431800" cy="469900"/>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381286">
            <a:off x="17212152" y="2338772"/>
            <a:ext cx="475772" cy="475772"/>
            <a:chOff x="0" y="0"/>
            <a:chExt cx="812800" cy="812800"/>
          </a:xfrm>
        </p:grpSpPr>
        <p:sp>
          <p:nvSpPr>
            <p:cNvPr name="Freeform 16" id="16"/>
            <p:cNvSpPr/>
            <p:nvPr/>
          </p:nvSpPr>
          <p:spPr>
            <a:xfrm flipH="false" flipV="false" rot="0">
              <a:off x="62178" y="62178"/>
              <a:ext cx="688445" cy="688445"/>
            </a:xfrm>
            <a:custGeom>
              <a:avLst/>
              <a:gdLst/>
              <a:ahLst/>
              <a:cxnLst/>
              <a:rect r="r" b="b" t="t" l="l"/>
              <a:pathLst>
                <a:path h="688445" w="688445">
                  <a:moveTo>
                    <a:pt x="385512" y="26295"/>
                  </a:moveTo>
                  <a:lnTo>
                    <a:pt x="432247" y="126434"/>
                  </a:lnTo>
                  <a:cubicBezTo>
                    <a:pt x="458920" y="183585"/>
                    <a:pt x="504859" y="229524"/>
                    <a:pt x="562010" y="256197"/>
                  </a:cubicBezTo>
                  <a:lnTo>
                    <a:pt x="662149" y="302932"/>
                  </a:lnTo>
                  <a:cubicBezTo>
                    <a:pt x="678191" y="310418"/>
                    <a:pt x="688444" y="326519"/>
                    <a:pt x="688444" y="344222"/>
                  </a:cubicBezTo>
                  <a:cubicBezTo>
                    <a:pt x="688444" y="361925"/>
                    <a:pt x="678191" y="378026"/>
                    <a:pt x="662149" y="385512"/>
                  </a:cubicBezTo>
                  <a:lnTo>
                    <a:pt x="562010" y="432247"/>
                  </a:lnTo>
                  <a:cubicBezTo>
                    <a:pt x="504859" y="458920"/>
                    <a:pt x="458920" y="504859"/>
                    <a:pt x="432247" y="562010"/>
                  </a:cubicBezTo>
                  <a:lnTo>
                    <a:pt x="385512" y="662149"/>
                  </a:lnTo>
                  <a:cubicBezTo>
                    <a:pt x="378026" y="678191"/>
                    <a:pt x="361925" y="688444"/>
                    <a:pt x="344222" y="688444"/>
                  </a:cubicBezTo>
                  <a:cubicBezTo>
                    <a:pt x="326519" y="688444"/>
                    <a:pt x="310418" y="678191"/>
                    <a:pt x="302932" y="662149"/>
                  </a:cubicBezTo>
                  <a:lnTo>
                    <a:pt x="256197" y="562010"/>
                  </a:lnTo>
                  <a:cubicBezTo>
                    <a:pt x="229524" y="504859"/>
                    <a:pt x="183585" y="458920"/>
                    <a:pt x="126434" y="432247"/>
                  </a:cubicBezTo>
                  <a:lnTo>
                    <a:pt x="26295" y="385512"/>
                  </a:lnTo>
                  <a:cubicBezTo>
                    <a:pt x="10253" y="378026"/>
                    <a:pt x="0" y="361925"/>
                    <a:pt x="0" y="344222"/>
                  </a:cubicBezTo>
                  <a:cubicBezTo>
                    <a:pt x="0" y="326519"/>
                    <a:pt x="10253" y="310418"/>
                    <a:pt x="26295" y="302932"/>
                  </a:cubicBezTo>
                  <a:lnTo>
                    <a:pt x="126434" y="256197"/>
                  </a:lnTo>
                  <a:cubicBezTo>
                    <a:pt x="183585" y="229524"/>
                    <a:pt x="229524" y="183585"/>
                    <a:pt x="256197" y="126434"/>
                  </a:cubicBezTo>
                  <a:lnTo>
                    <a:pt x="302932" y="26295"/>
                  </a:lnTo>
                  <a:cubicBezTo>
                    <a:pt x="310418" y="10253"/>
                    <a:pt x="326519" y="0"/>
                    <a:pt x="344222" y="0"/>
                  </a:cubicBezTo>
                  <a:cubicBezTo>
                    <a:pt x="361925" y="0"/>
                    <a:pt x="378026" y="10253"/>
                    <a:pt x="385512" y="26295"/>
                  </a:cubicBezTo>
                  <a:close/>
                </a:path>
              </a:pathLst>
            </a:custGeom>
            <a:solidFill>
              <a:srgbClr val="FFE9DE"/>
            </a:solidFill>
            <a:ln w="38100" cap="sq">
              <a:solidFill>
                <a:srgbClr val="CFCDFF"/>
              </a:solidFill>
              <a:prstDash val="solid"/>
              <a:miter/>
            </a:ln>
          </p:spPr>
        </p:sp>
        <p:sp>
          <p:nvSpPr>
            <p:cNvPr name="TextBox 17" id="17"/>
            <p:cNvSpPr txBox="true"/>
            <p:nvPr/>
          </p:nvSpPr>
          <p:spPr>
            <a:xfrm>
              <a:off x="190500" y="152400"/>
              <a:ext cx="431800" cy="469900"/>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381286">
            <a:off x="14255983" y="2618470"/>
            <a:ext cx="475772" cy="475772"/>
            <a:chOff x="0" y="0"/>
            <a:chExt cx="812800" cy="812800"/>
          </a:xfrm>
        </p:grpSpPr>
        <p:sp>
          <p:nvSpPr>
            <p:cNvPr name="Freeform 19" id="19"/>
            <p:cNvSpPr/>
            <p:nvPr/>
          </p:nvSpPr>
          <p:spPr>
            <a:xfrm flipH="false" flipV="false" rot="0">
              <a:off x="62178" y="62178"/>
              <a:ext cx="688445" cy="688445"/>
            </a:xfrm>
            <a:custGeom>
              <a:avLst/>
              <a:gdLst/>
              <a:ahLst/>
              <a:cxnLst/>
              <a:rect r="r" b="b" t="t" l="l"/>
              <a:pathLst>
                <a:path h="688445" w="688445">
                  <a:moveTo>
                    <a:pt x="385512" y="26295"/>
                  </a:moveTo>
                  <a:lnTo>
                    <a:pt x="432247" y="126434"/>
                  </a:lnTo>
                  <a:cubicBezTo>
                    <a:pt x="458920" y="183585"/>
                    <a:pt x="504859" y="229524"/>
                    <a:pt x="562010" y="256197"/>
                  </a:cubicBezTo>
                  <a:lnTo>
                    <a:pt x="662149" y="302932"/>
                  </a:lnTo>
                  <a:cubicBezTo>
                    <a:pt x="678191" y="310418"/>
                    <a:pt x="688444" y="326519"/>
                    <a:pt x="688444" y="344222"/>
                  </a:cubicBezTo>
                  <a:cubicBezTo>
                    <a:pt x="688444" y="361925"/>
                    <a:pt x="678191" y="378026"/>
                    <a:pt x="662149" y="385512"/>
                  </a:cubicBezTo>
                  <a:lnTo>
                    <a:pt x="562010" y="432247"/>
                  </a:lnTo>
                  <a:cubicBezTo>
                    <a:pt x="504859" y="458920"/>
                    <a:pt x="458920" y="504859"/>
                    <a:pt x="432247" y="562010"/>
                  </a:cubicBezTo>
                  <a:lnTo>
                    <a:pt x="385512" y="662149"/>
                  </a:lnTo>
                  <a:cubicBezTo>
                    <a:pt x="378026" y="678191"/>
                    <a:pt x="361925" y="688444"/>
                    <a:pt x="344222" y="688444"/>
                  </a:cubicBezTo>
                  <a:cubicBezTo>
                    <a:pt x="326519" y="688444"/>
                    <a:pt x="310418" y="678191"/>
                    <a:pt x="302932" y="662149"/>
                  </a:cubicBezTo>
                  <a:lnTo>
                    <a:pt x="256197" y="562010"/>
                  </a:lnTo>
                  <a:cubicBezTo>
                    <a:pt x="229524" y="504859"/>
                    <a:pt x="183585" y="458920"/>
                    <a:pt x="126434" y="432247"/>
                  </a:cubicBezTo>
                  <a:lnTo>
                    <a:pt x="26295" y="385512"/>
                  </a:lnTo>
                  <a:cubicBezTo>
                    <a:pt x="10253" y="378026"/>
                    <a:pt x="0" y="361925"/>
                    <a:pt x="0" y="344222"/>
                  </a:cubicBezTo>
                  <a:cubicBezTo>
                    <a:pt x="0" y="326519"/>
                    <a:pt x="10253" y="310418"/>
                    <a:pt x="26295" y="302932"/>
                  </a:cubicBezTo>
                  <a:lnTo>
                    <a:pt x="126434" y="256197"/>
                  </a:lnTo>
                  <a:cubicBezTo>
                    <a:pt x="183585" y="229524"/>
                    <a:pt x="229524" y="183585"/>
                    <a:pt x="256197" y="126434"/>
                  </a:cubicBezTo>
                  <a:lnTo>
                    <a:pt x="302932" y="26295"/>
                  </a:lnTo>
                  <a:cubicBezTo>
                    <a:pt x="310418" y="10253"/>
                    <a:pt x="326519" y="0"/>
                    <a:pt x="344222" y="0"/>
                  </a:cubicBezTo>
                  <a:cubicBezTo>
                    <a:pt x="361925" y="0"/>
                    <a:pt x="378026" y="10253"/>
                    <a:pt x="385512" y="26295"/>
                  </a:cubicBezTo>
                  <a:close/>
                </a:path>
              </a:pathLst>
            </a:custGeom>
            <a:solidFill>
              <a:srgbClr val="FAE9B6"/>
            </a:solidFill>
            <a:ln w="38100" cap="sq">
              <a:solidFill>
                <a:srgbClr val="CFCDFF"/>
              </a:solidFill>
              <a:prstDash val="solid"/>
              <a:miter/>
            </a:ln>
          </p:spPr>
        </p:sp>
        <p:sp>
          <p:nvSpPr>
            <p:cNvPr name="TextBox 20" id="20"/>
            <p:cNvSpPr txBox="true"/>
            <p:nvPr/>
          </p:nvSpPr>
          <p:spPr>
            <a:xfrm>
              <a:off x="190500" y="152400"/>
              <a:ext cx="431800" cy="469900"/>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2109551">
            <a:off x="17085220" y="8743950"/>
            <a:ext cx="3086100" cy="3086100"/>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a:solidFill>
                <a:srgbClr val="44A4A4"/>
              </a:solidFill>
              <a:prstDash val="solid"/>
              <a:miter/>
            </a:ln>
          </p:spPr>
        </p:sp>
        <p:sp>
          <p:nvSpPr>
            <p:cNvPr name="TextBox 23" id="2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3219400">
            <a:off x="17119226" y="9150919"/>
            <a:ext cx="495030" cy="495030"/>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EBB5"/>
            </a:solidFill>
            <a:ln w="38100" cap="sq">
              <a:solidFill>
                <a:srgbClr val="006E85"/>
              </a:solidFill>
              <a:prstDash val="solid"/>
              <a:miter/>
            </a:ln>
          </p:spPr>
        </p:sp>
        <p:sp>
          <p:nvSpPr>
            <p:cNvPr name="TextBox 26" id="26"/>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7" id="27"/>
          <p:cNvGrpSpPr/>
          <p:nvPr/>
        </p:nvGrpSpPr>
        <p:grpSpPr>
          <a:xfrm rot="-3219400">
            <a:off x="17233340" y="9281708"/>
            <a:ext cx="266803" cy="233453"/>
            <a:chOff x="0" y="0"/>
            <a:chExt cx="812800" cy="711200"/>
          </a:xfrm>
        </p:grpSpPr>
        <p:sp>
          <p:nvSpPr>
            <p:cNvPr name="Freeform 28" id="28"/>
            <p:cNvSpPr/>
            <p:nvPr/>
          </p:nvSpPr>
          <p:spPr>
            <a:xfrm flipH="false" flipV="false" rot="0">
              <a:off x="0" y="0"/>
              <a:ext cx="812800" cy="711200"/>
            </a:xfrm>
            <a:custGeom>
              <a:avLst/>
              <a:gdLst/>
              <a:ahLst/>
              <a:cxnLst/>
              <a:rect r="r" b="b" t="t" l="l"/>
              <a:pathLst>
                <a:path h="711200" w="812800">
                  <a:moveTo>
                    <a:pt x="32223" y="113558"/>
                  </a:moveTo>
                  <a:cubicBezTo>
                    <a:pt x="-33680" y="222131"/>
                    <a:pt x="12749" y="327809"/>
                    <a:pt x="71096" y="383897"/>
                  </a:cubicBezTo>
                  <a:lnTo>
                    <a:pt x="412247" y="711200"/>
                  </a:lnTo>
                  <a:lnTo>
                    <a:pt x="746197" y="385067"/>
                  </a:lnTo>
                  <a:cubicBezTo>
                    <a:pt x="800465" y="324730"/>
                    <a:pt x="821266" y="260730"/>
                    <a:pt x="809713" y="189465"/>
                  </a:cubicBezTo>
                  <a:cubicBezTo>
                    <a:pt x="793755" y="90882"/>
                    <a:pt x="712517" y="14398"/>
                    <a:pt x="612162" y="3476"/>
                  </a:cubicBezTo>
                  <a:cubicBezTo>
                    <a:pt x="550612" y="-3151"/>
                    <a:pt x="491155" y="14267"/>
                    <a:pt x="444750" y="52829"/>
                  </a:cubicBezTo>
                  <a:cubicBezTo>
                    <a:pt x="432260" y="63204"/>
                    <a:pt x="421096" y="74804"/>
                    <a:pt x="411367" y="87411"/>
                  </a:cubicBezTo>
                  <a:cubicBezTo>
                    <a:pt x="399823" y="73056"/>
                    <a:pt x="386287" y="59925"/>
                    <a:pt x="370977" y="48288"/>
                  </a:cubicBezTo>
                  <a:cubicBezTo>
                    <a:pt x="317614" y="7733"/>
                    <a:pt x="249687" y="-8369"/>
                    <a:pt x="184440" y="4154"/>
                  </a:cubicBezTo>
                  <a:cubicBezTo>
                    <a:pt x="122643" y="16092"/>
                    <a:pt x="67173" y="55954"/>
                    <a:pt x="32223" y="113558"/>
                  </a:cubicBezTo>
                  <a:close/>
                </a:path>
              </a:pathLst>
            </a:custGeom>
            <a:solidFill>
              <a:srgbClr val="FFB5EA"/>
            </a:solidFill>
            <a:ln w="28575" cap="sq">
              <a:solidFill>
                <a:srgbClr val="44A4A4"/>
              </a:solidFill>
              <a:prstDash val="solid"/>
              <a:miter/>
            </a:ln>
          </p:spPr>
        </p:sp>
        <p:sp>
          <p:nvSpPr>
            <p:cNvPr name="TextBox 29" id="29"/>
            <p:cNvSpPr txBox="true"/>
            <p:nvPr/>
          </p:nvSpPr>
          <p:spPr>
            <a:xfrm>
              <a:off x="76200" y="12700"/>
              <a:ext cx="660400" cy="571500"/>
            </a:xfrm>
            <a:prstGeom prst="rect">
              <a:avLst/>
            </a:prstGeom>
          </p:spPr>
          <p:txBody>
            <a:bodyPr anchor="ctr" rtlCol="false" tIns="50800" lIns="50800" bIns="50800" rIns="50800"/>
            <a:lstStyle/>
            <a:p>
              <a:pPr algn="ctr">
                <a:lnSpc>
                  <a:spcPts val="2659"/>
                </a:lnSpc>
              </a:pPr>
            </a:p>
          </p:txBody>
        </p:sp>
      </p:grpSp>
      <p:grpSp>
        <p:nvGrpSpPr>
          <p:cNvPr name="Group 30" id="30"/>
          <p:cNvGrpSpPr/>
          <p:nvPr/>
        </p:nvGrpSpPr>
        <p:grpSpPr>
          <a:xfrm rot="-10697852">
            <a:off x="-2283127" y="6083819"/>
            <a:ext cx="3086100" cy="3086100"/>
            <a:chOff x="0" y="0"/>
            <a:chExt cx="812800" cy="812800"/>
          </a:xfrm>
        </p:grpSpPr>
        <p:sp>
          <p:nvSpPr>
            <p:cNvPr name="Freeform 31" id="3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a:solidFill>
                <a:srgbClr val="44A4A4"/>
              </a:solidFill>
              <a:prstDash val="solid"/>
              <a:miter/>
            </a:ln>
          </p:spPr>
        </p:sp>
        <p:sp>
          <p:nvSpPr>
            <p:cNvPr name="TextBox 32" id="32"/>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33" id="33"/>
          <p:cNvGrpSpPr/>
          <p:nvPr/>
        </p:nvGrpSpPr>
        <p:grpSpPr>
          <a:xfrm rot="5573195">
            <a:off x="554777" y="7425196"/>
            <a:ext cx="495030" cy="495030"/>
            <a:chOff x="0" y="0"/>
            <a:chExt cx="812800" cy="812800"/>
          </a:xfrm>
        </p:grpSpPr>
        <p:sp>
          <p:nvSpPr>
            <p:cNvPr name="Freeform 34" id="3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EBB5"/>
            </a:solidFill>
            <a:ln w="38100" cap="sq">
              <a:solidFill>
                <a:srgbClr val="006E85"/>
              </a:solidFill>
              <a:prstDash val="solid"/>
              <a:miter/>
            </a:ln>
          </p:spPr>
        </p:sp>
        <p:sp>
          <p:nvSpPr>
            <p:cNvPr name="TextBox 35" id="35"/>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36" id="36"/>
          <p:cNvGrpSpPr/>
          <p:nvPr/>
        </p:nvGrpSpPr>
        <p:grpSpPr>
          <a:xfrm rot="-1306797">
            <a:off x="668890" y="7555985"/>
            <a:ext cx="266803" cy="233453"/>
            <a:chOff x="0" y="0"/>
            <a:chExt cx="812800" cy="711200"/>
          </a:xfrm>
        </p:grpSpPr>
        <p:sp>
          <p:nvSpPr>
            <p:cNvPr name="Freeform 37" id="37"/>
            <p:cNvSpPr/>
            <p:nvPr/>
          </p:nvSpPr>
          <p:spPr>
            <a:xfrm flipH="false" flipV="false" rot="0">
              <a:off x="0" y="0"/>
              <a:ext cx="812800" cy="711200"/>
            </a:xfrm>
            <a:custGeom>
              <a:avLst/>
              <a:gdLst/>
              <a:ahLst/>
              <a:cxnLst/>
              <a:rect r="r" b="b" t="t" l="l"/>
              <a:pathLst>
                <a:path h="711200" w="812800">
                  <a:moveTo>
                    <a:pt x="32223" y="113558"/>
                  </a:moveTo>
                  <a:cubicBezTo>
                    <a:pt x="-33680" y="222131"/>
                    <a:pt x="12749" y="327809"/>
                    <a:pt x="71096" y="383897"/>
                  </a:cubicBezTo>
                  <a:lnTo>
                    <a:pt x="412247" y="711200"/>
                  </a:lnTo>
                  <a:lnTo>
                    <a:pt x="746197" y="385067"/>
                  </a:lnTo>
                  <a:cubicBezTo>
                    <a:pt x="800465" y="324730"/>
                    <a:pt x="821266" y="260730"/>
                    <a:pt x="809713" y="189465"/>
                  </a:cubicBezTo>
                  <a:cubicBezTo>
                    <a:pt x="793755" y="90882"/>
                    <a:pt x="712517" y="14398"/>
                    <a:pt x="612162" y="3476"/>
                  </a:cubicBezTo>
                  <a:cubicBezTo>
                    <a:pt x="550612" y="-3151"/>
                    <a:pt x="491155" y="14267"/>
                    <a:pt x="444750" y="52829"/>
                  </a:cubicBezTo>
                  <a:cubicBezTo>
                    <a:pt x="432260" y="63204"/>
                    <a:pt x="421096" y="74804"/>
                    <a:pt x="411367" y="87411"/>
                  </a:cubicBezTo>
                  <a:cubicBezTo>
                    <a:pt x="399823" y="73056"/>
                    <a:pt x="386287" y="59925"/>
                    <a:pt x="370977" y="48288"/>
                  </a:cubicBezTo>
                  <a:cubicBezTo>
                    <a:pt x="317614" y="7733"/>
                    <a:pt x="249687" y="-8369"/>
                    <a:pt x="184440" y="4154"/>
                  </a:cubicBezTo>
                  <a:cubicBezTo>
                    <a:pt x="122643" y="16092"/>
                    <a:pt x="67173" y="55954"/>
                    <a:pt x="32223" y="113558"/>
                  </a:cubicBezTo>
                  <a:close/>
                </a:path>
              </a:pathLst>
            </a:custGeom>
            <a:solidFill>
              <a:srgbClr val="FFB5EA"/>
            </a:solidFill>
            <a:ln w="28575" cap="sq">
              <a:solidFill>
                <a:srgbClr val="44A4A4"/>
              </a:solidFill>
              <a:prstDash val="solid"/>
              <a:miter/>
            </a:ln>
          </p:spPr>
        </p:sp>
        <p:sp>
          <p:nvSpPr>
            <p:cNvPr name="TextBox 38" id="38"/>
            <p:cNvSpPr txBox="true"/>
            <p:nvPr/>
          </p:nvSpPr>
          <p:spPr>
            <a:xfrm>
              <a:off x="76200" y="12700"/>
              <a:ext cx="660400" cy="571500"/>
            </a:xfrm>
            <a:prstGeom prst="rect">
              <a:avLst/>
            </a:prstGeom>
          </p:spPr>
          <p:txBody>
            <a:bodyPr anchor="ctr" rtlCol="false" tIns="50800" lIns="50800" bIns="50800" rIns="50800"/>
            <a:lstStyle/>
            <a:p>
              <a:pPr algn="ctr">
                <a:lnSpc>
                  <a:spcPts val="2659"/>
                </a:lnSpc>
              </a:pPr>
            </a:p>
          </p:txBody>
        </p:sp>
      </p:grpSp>
      <p:sp>
        <p:nvSpPr>
          <p:cNvPr name="Freeform 39" id="39"/>
          <p:cNvSpPr/>
          <p:nvPr/>
        </p:nvSpPr>
        <p:spPr>
          <a:xfrm flipH="false" flipV="false" rot="0">
            <a:off x="1184102" y="9215080"/>
            <a:ext cx="6033378" cy="2062318"/>
          </a:xfrm>
          <a:custGeom>
            <a:avLst/>
            <a:gdLst/>
            <a:ahLst/>
            <a:cxnLst/>
            <a:rect r="r" b="b" t="t" l="l"/>
            <a:pathLst>
              <a:path h="2062318" w="6033378">
                <a:moveTo>
                  <a:pt x="0" y="0"/>
                </a:moveTo>
                <a:lnTo>
                  <a:pt x="6033378" y="0"/>
                </a:lnTo>
                <a:lnTo>
                  <a:pt x="6033378" y="2062319"/>
                </a:lnTo>
                <a:lnTo>
                  <a:pt x="0" y="206231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40" id="40"/>
          <p:cNvGrpSpPr/>
          <p:nvPr/>
        </p:nvGrpSpPr>
        <p:grpSpPr>
          <a:xfrm rot="0">
            <a:off x="1402842" y="1879653"/>
            <a:ext cx="6092711" cy="411477"/>
            <a:chOff x="0" y="0"/>
            <a:chExt cx="1604665" cy="108372"/>
          </a:xfrm>
        </p:grpSpPr>
        <p:sp>
          <p:nvSpPr>
            <p:cNvPr name="Freeform 41" id="41"/>
            <p:cNvSpPr/>
            <p:nvPr/>
          </p:nvSpPr>
          <p:spPr>
            <a:xfrm flipH="false" flipV="false" rot="0">
              <a:off x="0" y="0"/>
              <a:ext cx="1604665" cy="108372"/>
            </a:xfrm>
            <a:custGeom>
              <a:avLst/>
              <a:gdLst/>
              <a:ahLst/>
              <a:cxnLst/>
              <a:rect r="r" b="b" t="t" l="l"/>
              <a:pathLst>
                <a:path h="108372" w="1604665">
                  <a:moveTo>
                    <a:pt x="0" y="0"/>
                  </a:moveTo>
                  <a:lnTo>
                    <a:pt x="1604665" y="0"/>
                  </a:lnTo>
                  <a:lnTo>
                    <a:pt x="1604665" y="108372"/>
                  </a:lnTo>
                  <a:lnTo>
                    <a:pt x="0" y="108372"/>
                  </a:lnTo>
                  <a:close/>
                </a:path>
              </a:pathLst>
            </a:custGeom>
            <a:solidFill>
              <a:srgbClr val="A8DED6"/>
            </a:solidFill>
            <a:ln cap="sq">
              <a:noFill/>
              <a:prstDash val="solid"/>
              <a:miter/>
            </a:ln>
          </p:spPr>
        </p:sp>
        <p:sp>
          <p:nvSpPr>
            <p:cNvPr name="TextBox 42" id="42"/>
            <p:cNvSpPr txBox="true"/>
            <p:nvPr/>
          </p:nvSpPr>
          <p:spPr>
            <a:xfrm>
              <a:off x="0" y="-38100"/>
              <a:ext cx="1604665" cy="146472"/>
            </a:xfrm>
            <a:prstGeom prst="rect">
              <a:avLst/>
            </a:prstGeom>
          </p:spPr>
          <p:txBody>
            <a:bodyPr anchor="ctr" rtlCol="false" tIns="50800" lIns="50800" bIns="50800" rIns="50800"/>
            <a:lstStyle/>
            <a:p>
              <a:pPr algn="ctr">
                <a:lnSpc>
                  <a:spcPts val="2659"/>
                </a:lnSpc>
              </a:pPr>
            </a:p>
          </p:txBody>
        </p:sp>
      </p:grpSp>
      <p:sp>
        <p:nvSpPr>
          <p:cNvPr name="Freeform 43" id="43"/>
          <p:cNvSpPr/>
          <p:nvPr/>
        </p:nvSpPr>
        <p:spPr>
          <a:xfrm flipH="false" flipV="false" rot="-2478875">
            <a:off x="16293730" y="7931144"/>
            <a:ext cx="732146" cy="983168"/>
          </a:xfrm>
          <a:custGeom>
            <a:avLst/>
            <a:gdLst/>
            <a:ahLst/>
            <a:cxnLst/>
            <a:rect r="r" b="b" t="t" l="l"/>
            <a:pathLst>
              <a:path h="983168" w="732146">
                <a:moveTo>
                  <a:pt x="0" y="0"/>
                </a:moveTo>
                <a:lnTo>
                  <a:pt x="732147" y="0"/>
                </a:lnTo>
                <a:lnTo>
                  <a:pt x="732147" y="983168"/>
                </a:lnTo>
                <a:lnTo>
                  <a:pt x="0" y="98316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44" id="44"/>
          <p:cNvSpPr/>
          <p:nvPr/>
        </p:nvSpPr>
        <p:spPr>
          <a:xfrm flipH="false" flipV="false" rot="707332">
            <a:off x="7860465" y="7864544"/>
            <a:ext cx="618235" cy="989177"/>
          </a:xfrm>
          <a:custGeom>
            <a:avLst/>
            <a:gdLst/>
            <a:ahLst/>
            <a:cxnLst/>
            <a:rect r="r" b="b" t="t" l="l"/>
            <a:pathLst>
              <a:path h="989177" w="618235">
                <a:moveTo>
                  <a:pt x="0" y="0"/>
                </a:moveTo>
                <a:lnTo>
                  <a:pt x="618236" y="0"/>
                </a:lnTo>
                <a:lnTo>
                  <a:pt x="618236" y="989177"/>
                </a:lnTo>
                <a:lnTo>
                  <a:pt x="0" y="989177"/>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45" id="45"/>
          <p:cNvSpPr/>
          <p:nvPr/>
        </p:nvSpPr>
        <p:spPr>
          <a:xfrm flipH="false" flipV="false" rot="0">
            <a:off x="1373988" y="3677168"/>
            <a:ext cx="7642006" cy="3821003"/>
          </a:xfrm>
          <a:custGeom>
            <a:avLst/>
            <a:gdLst/>
            <a:ahLst/>
            <a:cxnLst/>
            <a:rect r="r" b="b" t="t" l="l"/>
            <a:pathLst>
              <a:path h="3821003" w="7642006">
                <a:moveTo>
                  <a:pt x="0" y="0"/>
                </a:moveTo>
                <a:lnTo>
                  <a:pt x="7642006" y="0"/>
                </a:lnTo>
                <a:lnTo>
                  <a:pt x="7642006" y="3821003"/>
                </a:lnTo>
                <a:lnTo>
                  <a:pt x="0" y="3821003"/>
                </a:lnTo>
                <a:lnTo>
                  <a:pt x="0" y="0"/>
                </a:lnTo>
                <a:close/>
              </a:path>
            </a:pathLst>
          </a:custGeom>
          <a:blipFill>
            <a:blip r:embed="rId15"/>
            <a:stretch>
              <a:fillRect l="0" t="0" r="0" b="0"/>
            </a:stretch>
          </a:blipFill>
        </p:spPr>
      </p:sp>
      <p:sp>
        <p:nvSpPr>
          <p:cNvPr name="TextBox 46" id="46"/>
          <p:cNvSpPr txBox="true"/>
          <p:nvPr/>
        </p:nvSpPr>
        <p:spPr>
          <a:xfrm rot="0">
            <a:off x="2054601" y="1870128"/>
            <a:ext cx="5244419" cy="466550"/>
          </a:xfrm>
          <a:prstGeom prst="rect">
            <a:avLst/>
          </a:prstGeom>
        </p:spPr>
        <p:txBody>
          <a:bodyPr anchor="t" rtlCol="false" tIns="0" lIns="0" bIns="0" rIns="0">
            <a:spAutoFit/>
          </a:bodyPr>
          <a:lstStyle/>
          <a:p>
            <a:pPr algn="ctr">
              <a:lnSpc>
                <a:spcPts val="3051"/>
              </a:lnSpc>
            </a:pPr>
            <a:r>
              <a:rPr lang="en-US" sz="3021">
                <a:solidFill>
                  <a:srgbClr val="000000"/>
                </a:solidFill>
                <a:latin typeface="Chunk Five"/>
                <a:ea typeface="Chunk Five"/>
                <a:cs typeface="Chunk Five"/>
                <a:sym typeface="Chunk Five"/>
              </a:rPr>
              <a:t>THE PROBLEM.</a:t>
            </a:r>
          </a:p>
        </p:txBody>
      </p:sp>
      <p:sp>
        <p:nvSpPr>
          <p:cNvPr name="TextBox 47" id="47"/>
          <p:cNvSpPr txBox="true"/>
          <p:nvPr/>
        </p:nvSpPr>
        <p:spPr>
          <a:xfrm rot="0">
            <a:off x="10677402" y="1823191"/>
            <a:ext cx="5490305" cy="6670200"/>
          </a:xfrm>
          <a:prstGeom prst="rect">
            <a:avLst/>
          </a:prstGeom>
        </p:spPr>
        <p:txBody>
          <a:bodyPr anchor="t" rtlCol="false" tIns="0" lIns="0" bIns="0" rIns="0">
            <a:spAutoFit/>
          </a:bodyPr>
          <a:lstStyle/>
          <a:p>
            <a:pPr algn="l">
              <a:lnSpc>
                <a:spcPts val="2517"/>
              </a:lnSpc>
            </a:pPr>
            <a:r>
              <a:rPr lang="en-US" sz="1797">
                <a:solidFill>
                  <a:srgbClr val="000000"/>
                </a:solidFill>
                <a:latin typeface="Inter"/>
                <a:ea typeface="Inter"/>
                <a:cs typeface="Inter"/>
                <a:sym typeface="Inter"/>
              </a:rPr>
              <a:t>1. Bukti Statistik (Volatilitas):</a:t>
            </a:r>
          </a:p>
          <a:p>
            <a:pPr algn="l" marL="388179" indent="-194089" lvl="1">
              <a:lnSpc>
                <a:spcPts val="2517"/>
              </a:lnSpc>
              <a:buFont typeface="Arial"/>
              <a:buChar char="•"/>
            </a:pPr>
            <a:r>
              <a:rPr lang="en-US" sz="1797">
                <a:solidFill>
                  <a:srgbClr val="000000"/>
                </a:solidFill>
                <a:latin typeface="Inter"/>
                <a:ea typeface="Inter"/>
                <a:cs typeface="Inter"/>
                <a:sym typeface="Inter"/>
              </a:rPr>
              <a:t>Coefficient </a:t>
            </a:r>
            <a:r>
              <a:rPr lang="en-US" sz="1797">
                <a:solidFill>
                  <a:srgbClr val="000000"/>
                </a:solidFill>
                <a:latin typeface="Inter"/>
                <a:ea typeface="Inter"/>
                <a:cs typeface="Inter"/>
                <a:sym typeface="Inter"/>
              </a:rPr>
              <a:t>of Variation (CV): 30.77%.</a:t>
            </a:r>
          </a:p>
          <a:p>
            <a:pPr algn="l" marL="776357" indent="-258786" lvl="2">
              <a:lnSpc>
                <a:spcPts val="2517"/>
              </a:lnSpc>
              <a:buFont typeface="Arial"/>
              <a:buChar char="⚬"/>
            </a:pPr>
            <a:r>
              <a:rPr lang="en-US" sz="1797">
                <a:solidFill>
                  <a:srgbClr val="000000"/>
                </a:solidFill>
                <a:latin typeface="Inter"/>
                <a:ea typeface="Inter"/>
                <a:cs typeface="Inter"/>
                <a:sym typeface="Inter"/>
              </a:rPr>
              <a:t>Artinya: Tingkat fluktuasi penjualan harian mencapai 30% dari rata-rata. Dalam bisnis retail/F&amp;B, angka di atas 20% sudah dianggap cukup fluktuatif (tidak stabil).</a:t>
            </a:r>
          </a:p>
          <a:p>
            <a:pPr algn="l" marL="388179" indent="-194089" lvl="1">
              <a:lnSpc>
                <a:spcPts val="2517"/>
              </a:lnSpc>
              <a:buFont typeface="Arial"/>
              <a:buChar char="•"/>
            </a:pPr>
            <a:r>
              <a:rPr lang="en-US" sz="1797">
                <a:solidFill>
                  <a:srgbClr val="000000"/>
                </a:solidFill>
                <a:latin typeface="Inter"/>
                <a:ea typeface="Inter"/>
                <a:cs typeface="Inter"/>
                <a:sym typeface="Inter"/>
              </a:rPr>
              <a:t>Standar Deviasi: $1,187.82.</a:t>
            </a:r>
          </a:p>
          <a:p>
            <a:pPr algn="l" marL="776357" indent="-258786" lvl="2">
              <a:lnSpc>
                <a:spcPts val="2517"/>
              </a:lnSpc>
              <a:buFont typeface="Arial"/>
              <a:buChar char="⚬"/>
            </a:pPr>
            <a:r>
              <a:rPr lang="en-US" sz="1797">
                <a:solidFill>
                  <a:srgbClr val="000000"/>
                </a:solidFill>
                <a:latin typeface="Inter"/>
                <a:ea typeface="Inter"/>
                <a:cs typeface="Inter"/>
                <a:sym typeface="Inter"/>
              </a:rPr>
              <a:t>Artinya: Pendapatan harian bisa naik atau turun drastis sebesar ~$1,200 dari hari ke hari. Ini membuat prediksi stok bahan baku menjadi sulit.</a:t>
            </a:r>
          </a:p>
          <a:p>
            <a:pPr algn="l">
              <a:lnSpc>
                <a:spcPts val="2517"/>
              </a:lnSpc>
            </a:pPr>
            <a:r>
              <a:rPr lang="en-US" sz="1797">
                <a:solidFill>
                  <a:srgbClr val="000000"/>
                </a:solidFill>
                <a:latin typeface="Inter"/>
                <a:ea typeface="Inter"/>
                <a:cs typeface="Inter"/>
                <a:sym typeface="Inter"/>
              </a:rPr>
              <a:t>2. Bukti Visual (Grafik): Grafik di bawah ini menunjukkan "denyut nadi" penjualan harian.</a:t>
            </a:r>
          </a:p>
          <a:p>
            <a:pPr algn="l" marL="388179" indent="-194089" lvl="1">
              <a:lnSpc>
                <a:spcPts val="2517"/>
              </a:lnSpc>
              <a:buFont typeface="Arial"/>
              <a:buChar char="•"/>
            </a:pPr>
            <a:r>
              <a:rPr lang="en-US" sz="1797">
                <a:solidFill>
                  <a:srgbClr val="000000"/>
                </a:solidFill>
                <a:latin typeface="Inter"/>
                <a:ea typeface="Inter"/>
                <a:cs typeface="Inter"/>
                <a:sym typeface="Inter"/>
              </a:rPr>
              <a:t>Garis Cokelat (Harian): Sangat bergerigi (spiky), menunjukkan ketidakpastian harian yang tajam.</a:t>
            </a:r>
          </a:p>
          <a:p>
            <a:pPr algn="l" marL="388179" indent="-194089" lvl="1">
              <a:lnSpc>
                <a:spcPts val="2517"/>
              </a:lnSpc>
              <a:buFont typeface="Arial"/>
              <a:buChar char="•"/>
            </a:pPr>
            <a:r>
              <a:rPr lang="en-US" sz="1797">
                <a:solidFill>
                  <a:srgbClr val="000000"/>
                </a:solidFill>
                <a:latin typeface="Inter"/>
                <a:ea typeface="Inter"/>
                <a:cs typeface="Inter"/>
                <a:sym typeface="Inter"/>
              </a:rPr>
              <a:t>Garis Emas (Rata-rata 7 Hari): Meskipun tren jangka panjangnya agak naik (Mei-Juni), fluktuasi harian di bulan-bulan sebelumnya (Januari-April) sangat liar.</a:t>
            </a:r>
          </a:p>
          <a:p>
            <a:pPr algn="l" marL="0" indent="0" lvl="0">
              <a:lnSpc>
                <a:spcPts val="2517"/>
              </a:lnSpc>
              <a:spcBef>
                <a:spcPct val="0"/>
              </a:spcBef>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6714101" y="-553834"/>
            <a:ext cx="7315200" cy="2500468"/>
          </a:xfrm>
          <a:custGeom>
            <a:avLst/>
            <a:gdLst/>
            <a:ahLst/>
            <a:cxnLst/>
            <a:rect r="r" b="b" t="t" l="l"/>
            <a:pathLst>
              <a:path h="2500468" w="7315200">
                <a:moveTo>
                  <a:pt x="0" y="0"/>
                </a:moveTo>
                <a:lnTo>
                  <a:pt x="7315200" y="0"/>
                </a:lnTo>
                <a:lnTo>
                  <a:pt x="7315200" y="2500468"/>
                </a:lnTo>
                <a:lnTo>
                  <a:pt x="0" y="250046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0382250" y="894240"/>
            <a:ext cx="6080609" cy="8713451"/>
          </a:xfrm>
          <a:custGeom>
            <a:avLst/>
            <a:gdLst/>
            <a:ahLst/>
            <a:cxnLst/>
            <a:rect r="r" b="b" t="t" l="l"/>
            <a:pathLst>
              <a:path h="8713451" w="6080609">
                <a:moveTo>
                  <a:pt x="0" y="0"/>
                </a:moveTo>
                <a:lnTo>
                  <a:pt x="6080609" y="0"/>
                </a:lnTo>
                <a:lnTo>
                  <a:pt x="6080609" y="8713450"/>
                </a:lnTo>
                <a:lnTo>
                  <a:pt x="0" y="871345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402842" y="2839413"/>
            <a:ext cx="7593823" cy="2411552"/>
          </a:xfrm>
          <a:custGeom>
            <a:avLst/>
            <a:gdLst/>
            <a:ahLst/>
            <a:cxnLst/>
            <a:rect r="r" b="b" t="t" l="l"/>
            <a:pathLst>
              <a:path h="2411552" w="7593823">
                <a:moveTo>
                  <a:pt x="0" y="0"/>
                </a:moveTo>
                <a:lnTo>
                  <a:pt x="7593823" y="0"/>
                </a:lnTo>
                <a:lnTo>
                  <a:pt x="7593823" y="2411552"/>
                </a:lnTo>
                <a:lnTo>
                  <a:pt x="0" y="241155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6" id="6"/>
          <p:cNvGrpSpPr/>
          <p:nvPr/>
        </p:nvGrpSpPr>
        <p:grpSpPr>
          <a:xfrm rot="0">
            <a:off x="1402842" y="3292562"/>
            <a:ext cx="7584298" cy="5200829"/>
            <a:chOff x="0" y="0"/>
            <a:chExt cx="1997511" cy="1369766"/>
          </a:xfrm>
        </p:grpSpPr>
        <p:sp>
          <p:nvSpPr>
            <p:cNvPr name="Freeform 7" id="7"/>
            <p:cNvSpPr/>
            <p:nvPr/>
          </p:nvSpPr>
          <p:spPr>
            <a:xfrm flipH="false" flipV="false" rot="0">
              <a:off x="0" y="0"/>
              <a:ext cx="1997510" cy="1369766"/>
            </a:xfrm>
            <a:custGeom>
              <a:avLst/>
              <a:gdLst/>
              <a:ahLst/>
              <a:cxnLst/>
              <a:rect r="r" b="b" t="t" l="l"/>
              <a:pathLst>
                <a:path h="1369766" w="1997510">
                  <a:moveTo>
                    <a:pt x="12249" y="0"/>
                  </a:moveTo>
                  <a:lnTo>
                    <a:pt x="1985261" y="0"/>
                  </a:lnTo>
                  <a:cubicBezTo>
                    <a:pt x="1992026" y="0"/>
                    <a:pt x="1997510" y="5484"/>
                    <a:pt x="1997510" y="12249"/>
                  </a:cubicBezTo>
                  <a:lnTo>
                    <a:pt x="1997510" y="1357516"/>
                  </a:lnTo>
                  <a:cubicBezTo>
                    <a:pt x="1997510" y="1364282"/>
                    <a:pt x="1992026" y="1369766"/>
                    <a:pt x="1985261" y="1369766"/>
                  </a:cubicBezTo>
                  <a:lnTo>
                    <a:pt x="12249" y="1369766"/>
                  </a:lnTo>
                  <a:cubicBezTo>
                    <a:pt x="5484" y="1369766"/>
                    <a:pt x="0" y="1364282"/>
                    <a:pt x="0" y="1357516"/>
                  </a:cubicBezTo>
                  <a:lnTo>
                    <a:pt x="0" y="12249"/>
                  </a:lnTo>
                  <a:cubicBezTo>
                    <a:pt x="0" y="5484"/>
                    <a:pt x="5484" y="0"/>
                    <a:pt x="12249" y="0"/>
                  </a:cubicBezTo>
                  <a:close/>
                </a:path>
              </a:pathLst>
            </a:custGeom>
            <a:solidFill>
              <a:srgbClr val="FFF6F0"/>
            </a:solidFill>
            <a:ln w="19050" cap="sq">
              <a:solidFill>
                <a:srgbClr val="006E85"/>
              </a:solidFill>
              <a:prstDash val="solid"/>
              <a:miter/>
            </a:ln>
          </p:spPr>
        </p:sp>
        <p:sp>
          <p:nvSpPr>
            <p:cNvPr name="TextBox 8" id="8"/>
            <p:cNvSpPr txBox="true"/>
            <p:nvPr/>
          </p:nvSpPr>
          <p:spPr>
            <a:xfrm>
              <a:off x="0" y="-38100"/>
              <a:ext cx="1997511" cy="1407866"/>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7366741" y="4667728"/>
            <a:ext cx="475772" cy="475772"/>
            <a:chOff x="0" y="0"/>
            <a:chExt cx="812800" cy="812800"/>
          </a:xfrm>
        </p:grpSpPr>
        <p:sp>
          <p:nvSpPr>
            <p:cNvPr name="Freeform 10" id="10"/>
            <p:cNvSpPr/>
            <p:nvPr/>
          </p:nvSpPr>
          <p:spPr>
            <a:xfrm flipH="false" flipV="false" rot="0">
              <a:off x="62178" y="62178"/>
              <a:ext cx="688445" cy="688445"/>
            </a:xfrm>
            <a:custGeom>
              <a:avLst/>
              <a:gdLst/>
              <a:ahLst/>
              <a:cxnLst/>
              <a:rect r="r" b="b" t="t" l="l"/>
              <a:pathLst>
                <a:path h="688445" w="688445">
                  <a:moveTo>
                    <a:pt x="385512" y="26295"/>
                  </a:moveTo>
                  <a:lnTo>
                    <a:pt x="432247" y="126434"/>
                  </a:lnTo>
                  <a:cubicBezTo>
                    <a:pt x="458920" y="183585"/>
                    <a:pt x="504859" y="229524"/>
                    <a:pt x="562010" y="256197"/>
                  </a:cubicBezTo>
                  <a:lnTo>
                    <a:pt x="662149" y="302932"/>
                  </a:lnTo>
                  <a:cubicBezTo>
                    <a:pt x="678191" y="310418"/>
                    <a:pt x="688444" y="326519"/>
                    <a:pt x="688444" y="344222"/>
                  </a:cubicBezTo>
                  <a:cubicBezTo>
                    <a:pt x="688444" y="361925"/>
                    <a:pt x="678191" y="378026"/>
                    <a:pt x="662149" y="385512"/>
                  </a:cubicBezTo>
                  <a:lnTo>
                    <a:pt x="562010" y="432247"/>
                  </a:lnTo>
                  <a:cubicBezTo>
                    <a:pt x="504859" y="458920"/>
                    <a:pt x="458920" y="504859"/>
                    <a:pt x="432247" y="562010"/>
                  </a:cubicBezTo>
                  <a:lnTo>
                    <a:pt x="385512" y="662149"/>
                  </a:lnTo>
                  <a:cubicBezTo>
                    <a:pt x="378026" y="678191"/>
                    <a:pt x="361925" y="688444"/>
                    <a:pt x="344222" y="688444"/>
                  </a:cubicBezTo>
                  <a:cubicBezTo>
                    <a:pt x="326519" y="688444"/>
                    <a:pt x="310418" y="678191"/>
                    <a:pt x="302932" y="662149"/>
                  </a:cubicBezTo>
                  <a:lnTo>
                    <a:pt x="256197" y="562010"/>
                  </a:lnTo>
                  <a:cubicBezTo>
                    <a:pt x="229524" y="504859"/>
                    <a:pt x="183585" y="458920"/>
                    <a:pt x="126434" y="432247"/>
                  </a:cubicBezTo>
                  <a:lnTo>
                    <a:pt x="26295" y="385512"/>
                  </a:lnTo>
                  <a:cubicBezTo>
                    <a:pt x="10253" y="378026"/>
                    <a:pt x="0" y="361925"/>
                    <a:pt x="0" y="344222"/>
                  </a:cubicBezTo>
                  <a:cubicBezTo>
                    <a:pt x="0" y="326519"/>
                    <a:pt x="10253" y="310418"/>
                    <a:pt x="26295" y="302932"/>
                  </a:cubicBezTo>
                  <a:lnTo>
                    <a:pt x="126434" y="256197"/>
                  </a:lnTo>
                  <a:cubicBezTo>
                    <a:pt x="183585" y="229524"/>
                    <a:pt x="229524" y="183585"/>
                    <a:pt x="256197" y="126434"/>
                  </a:cubicBezTo>
                  <a:lnTo>
                    <a:pt x="302932" y="26295"/>
                  </a:lnTo>
                  <a:cubicBezTo>
                    <a:pt x="310418" y="10253"/>
                    <a:pt x="326519" y="0"/>
                    <a:pt x="344222" y="0"/>
                  </a:cubicBezTo>
                  <a:cubicBezTo>
                    <a:pt x="361925" y="0"/>
                    <a:pt x="378026" y="10253"/>
                    <a:pt x="385512" y="26295"/>
                  </a:cubicBezTo>
                  <a:close/>
                </a:path>
              </a:pathLst>
            </a:custGeom>
            <a:solidFill>
              <a:srgbClr val="D6EAF4"/>
            </a:solidFill>
            <a:ln w="38100" cap="sq">
              <a:solidFill>
                <a:srgbClr val="CFCDFF"/>
              </a:solidFill>
              <a:prstDash val="solid"/>
              <a:miter/>
            </a:ln>
          </p:spPr>
        </p:sp>
        <p:sp>
          <p:nvSpPr>
            <p:cNvPr name="TextBox 11" id="11"/>
            <p:cNvSpPr txBox="true"/>
            <p:nvPr/>
          </p:nvSpPr>
          <p:spPr>
            <a:xfrm>
              <a:off x="190500" y="152400"/>
              <a:ext cx="431800" cy="469900"/>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381286">
            <a:off x="347493" y="1042500"/>
            <a:ext cx="475772" cy="475772"/>
            <a:chOff x="0" y="0"/>
            <a:chExt cx="812800" cy="812800"/>
          </a:xfrm>
        </p:grpSpPr>
        <p:sp>
          <p:nvSpPr>
            <p:cNvPr name="Freeform 13" id="13"/>
            <p:cNvSpPr/>
            <p:nvPr/>
          </p:nvSpPr>
          <p:spPr>
            <a:xfrm flipH="false" flipV="false" rot="0">
              <a:off x="62178" y="62178"/>
              <a:ext cx="688445" cy="688445"/>
            </a:xfrm>
            <a:custGeom>
              <a:avLst/>
              <a:gdLst/>
              <a:ahLst/>
              <a:cxnLst/>
              <a:rect r="r" b="b" t="t" l="l"/>
              <a:pathLst>
                <a:path h="688445" w="688445">
                  <a:moveTo>
                    <a:pt x="385512" y="26295"/>
                  </a:moveTo>
                  <a:lnTo>
                    <a:pt x="432247" y="126434"/>
                  </a:lnTo>
                  <a:cubicBezTo>
                    <a:pt x="458920" y="183585"/>
                    <a:pt x="504859" y="229524"/>
                    <a:pt x="562010" y="256197"/>
                  </a:cubicBezTo>
                  <a:lnTo>
                    <a:pt x="662149" y="302932"/>
                  </a:lnTo>
                  <a:cubicBezTo>
                    <a:pt x="678191" y="310418"/>
                    <a:pt x="688444" y="326519"/>
                    <a:pt x="688444" y="344222"/>
                  </a:cubicBezTo>
                  <a:cubicBezTo>
                    <a:pt x="688444" y="361925"/>
                    <a:pt x="678191" y="378026"/>
                    <a:pt x="662149" y="385512"/>
                  </a:cubicBezTo>
                  <a:lnTo>
                    <a:pt x="562010" y="432247"/>
                  </a:lnTo>
                  <a:cubicBezTo>
                    <a:pt x="504859" y="458920"/>
                    <a:pt x="458920" y="504859"/>
                    <a:pt x="432247" y="562010"/>
                  </a:cubicBezTo>
                  <a:lnTo>
                    <a:pt x="385512" y="662149"/>
                  </a:lnTo>
                  <a:cubicBezTo>
                    <a:pt x="378026" y="678191"/>
                    <a:pt x="361925" y="688444"/>
                    <a:pt x="344222" y="688444"/>
                  </a:cubicBezTo>
                  <a:cubicBezTo>
                    <a:pt x="326519" y="688444"/>
                    <a:pt x="310418" y="678191"/>
                    <a:pt x="302932" y="662149"/>
                  </a:cubicBezTo>
                  <a:lnTo>
                    <a:pt x="256197" y="562010"/>
                  </a:lnTo>
                  <a:cubicBezTo>
                    <a:pt x="229524" y="504859"/>
                    <a:pt x="183585" y="458920"/>
                    <a:pt x="126434" y="432247"/>
                  </a:cubicBezTo>
                  <a:lnTo>
                    <a:pt x="26295" y="385512"/>
                  </a:lnTo>
                  <a:cubicBezTo>
                    <a:pt x="10253" y="378026"/>
                    <a:pt x="0" y="361925"/>
                    <a:pt x="0" y="344222"/>
                  </a:cubicBezTo>
                  <a:cubicBezTo>
                    <a:pt x="0" y="326519"/>
                    <a:pt x="10253" y="310418"/>
                    <a:pt x="26295" y="302932"/>
                  </a:cubicBezTo>
                  <a:lnTo>
                    <a:pt x="126434" y="256197"/>
                  </a:lnTo>
                  <a:cubicBezTo>
                    <a:pt x="183585" y="229524"/>
                    <a:pt x="229524" y="183585"/>
                    <a:pt x="256197" y="126434"/>
                  </a:cubicBezTo>
                  <a:lnTo>
                    <a:pt x="302932" y="26295"/>
                  </a:lnTo>
                  <a:cubicBezTo>
                    <a:pt x="310418" y="10253"/>
                    <a:pt x="326519" y="0"/>
                    <a:pt x="344222" y="0"/>
                  </a:cubicBezTo>
                  <a:cubicBezTo>
                    <a:pt x="361925" y="0"/>
                    <a:pt x="378026" y="10253"/>
                    <a:pt x="385512" y="26295"/>
                  </a:cubicBezTo>
                  <a:close/>
                </a:path>
              </a:pathLst>
            </a:custGeom>
            <a:solidFill>
              <a:srgbClr val="D9F4D6"/>
            </a:solidFill>
            <a:ln w="38100" cap="sq">
              <a:solidFill>
                <a:srgbClr val="CFCDFF"/>
              </a:solidFill>
              <a:prstDash val="solid"/>
              <a:miter/>
            </a:ln>
          </p:spPr>
        </p:sp>
        <p:sp>
          <p:nvSpPr>
            <p:cNvPr name="TextBox 14" id="14"/>
            <p:cNvSpPr txBox="true"/>
            <p:nvPr/>
          </p:nvSpPr>
          <p:spPr>
            <a:xfrm>
              <a:off x="190500" y="152400"/>
              <a:ext cx="431800" cy="469900"/>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381286">
            <a:off x="17212152" y="2338772"/>
            <a:ext cx="475772" cy="475772"/>
            <a:chOff x="0" y="0"/>
            <a:chExt cx="812800" cy="812800"/>
          </a:xfrm>
        </p:grpSpPr>
        <p:sp>
          <p:nvSpPr>
            <p:cNvPr name="Freeform 16" id="16"/>
            <p:cNvSpPr/>
            <p:nvPr/>
          </p:nvSpPr>
          <p:spPr>
            <a:xfrm flipH="false" flipV="false" rot="0">
              <a:off x="62178" y="62178"/>
              <a:ext cx="688445" cy="688445"/>
            </a:xfrm>
            <a:custGeom>
              <a:avLst/>
              <a:gdLst/>
              <a:ahLst/>
              <a:cxnLst/>
              <a:rect r="r" b="b" t="t" l="l"/>
              <a:pathLst>
                <a:path h="688445" w="688445">
                  <a:moveTo>
                    <a:pt x="385512" y="26295"/>
                  </a:moveTo>
                  <a:lnTo>
                    <a:pt x="432247" y="126434"/>
                  </a:lnTo>
                  <a:cubicBezTo>
                    <a:pt x="458920" y="183585"/>
                    <a:pt x="504859" y="229524"/>
                    <a:pt x="562010" y="256197"/>
                  </a:cubicBezTo>
                  <a:lnTo>
                    <a:pt x="662149" y="302932"/>
                  </a:lnTo>
                  <a:cubicBezTo>
                    <a:pt x="678191" y="310418"/>
                    <a:pt x="688444" y="326519"/>
                    <a:pt x="688444" y="344222"/>
                  </a:cubicBezTo>
                  <a:cubicBezTo>
                    <a:pt x="688444" y="361925"/>
                    <a:pt x="678191" y="378026"/>
                    <a:pt x="662149" y="385512"/>
                  </a:cubicBezTo>
                  <a:lnTo>
                    <a:pt x="562010" y="432247"/>
                  </a:lnTo>
                  <a:cubicBezTo>
                    <a:pt x="504859" y="458920"/>
                    <a:pt x="458920" y="504859"/>
                    <a:pt x="432247" y="562010"/>
                  </a:cubicBezTo>
                  <a:lnTo>
                    <a:pt x="385512" y="662149"/>
                  </a:lnTo>
                  <a:cubicBezTo>
                    <a:pt x="378026" y="678191"/>
                    <a:pt x="361925" y="688444"/>
                    <a:pt x="344222" y="688444"/>
                  </a:cubicBezTo>
                  <a:cubicBezTo>
                    <a:pt x="326519" y="688444"/>
                    <a:pt x="310418" y="678191"/>
                    <a:pt x="302932" y="662149"/>
                  </a:cubicBezTo>
                  <a:lnTo>
                    <a:pt x="256197" y="562010"/>
                  </a:lnTo>
                  <a:cubicBezTo>
                    <a:pt x="229524" y="504859"/>
                    <a:pt x="183585" y="458920"/>
                    <a:pt x="126434" y="432247"/>
                  </a:cubicBezTo>
                  <a:lnTo>
                    <a:pt x="26295" y="385512"/>
                  </a:lnTo>
                  <a:cubicBezTo>
                    <a:pt x="10253" y="378026"/>
                    <a:pt x="0" y="361925"/>
                    <a:pt x="0" y="344222"/>
                  </a:cubicBezTo>
                  <a:cubicBezTo>
                    <a:pt x="0" y="326519"/>
                    <a:pt x="10253" y="310418"/>
                    <a:pt x="26295" y="302932"/>
                  </a:cubicBezTo>
                  <a:lnTo>
                    <a:pt x="126434" y="256197"/>
                  </a:lnTo>
                  <a:cubicBezTo>
                    <a:pt x="183585" y="229524"/>
                    <a:pt x="229524" y="183585"/>
                    <a:pt x="256197" y="126434"/>
                  </a:cubicBezTo>
                  <a:lnTo>
                    <a:pt x="302932" y="26295"/>
                  </a:lnTo>
                  <a:cubicBezTo>
                    <a:pt x="310418" y="10253"/>
                    <a:pt x="326519" y="0"/>
                    <a:pt x="344222" y="0"/>
                  </a:cubicBezTo>
                  <a:cubicBezTo>
                    <a:pt x="361925" y="0"/>
                    <a:pt x="378026" y="10253"/>
                    <a:pt x="385512" y="26295"/>
                  </a:cubicBezTo>
                  <a:close/>
                </a:path>
              </a:pathLst>
            </a:custGeom>
            <a:solidFill>
              <a:srgbClr val="FFE9DE"/>
            </a:solidFill>
            <a:ln w="38100" cap="sq">
              <a:solidFill>
                <a:srgbClr val="CFCDFF"/>
              </a:solidFill>
              <a:prstDash val="solid"/>
              <a:miter/>
            </a:ln>
          </p:spPr>
        </p:sp>
        <p:sp>
          <p:nvSpPr>
            <p:cNvPr name="TextBox 17" id="17"/>
            <p:cNvSpPr txBox="true"/>
            <p:nvPr/>
          </p:nvSpPr>
          <p:spPr>
            <a:xfrm>
              <a:off x="190500" y="152400"/>
              <a:ext cx="431800" cy="469900"/>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381286">
            <a:off x="14255983" y="2618470"/>
            <a:ext cx="475772" cy="475772"/>
            <a:chOff x="0" y="0"/>
            <a:chExt cx="812800" cy="812800"/>
          </a:xfrm>
        </p:grpSpPr>
        <p:sp>
          <p:nvSpPr>
            <p:cNvPr name="Freeform 19" id="19"/>
            <p:cNvSpPr/>
            <p:nvPr/>
          </p:nvSpPr>
          <p:spPr>
            <a:xfrm flipH="false" flipV="false" rot="0">
              <a:off x="62178" y="62178"/>
              <a:ext cx="688445" cy="688445"/>
            </a:xfrm>
            <a:custGeom>
              <a:avLst/>
              <a:gdLst/>
              <a:ahLst/>
              <a:cxnLst/>
              <a:rect r="r" b="b" t="t" l="l"/>
              <a:pathLst>
                <a:path h="688445" w="688445">
                  <a:moveTo>
                    <a:pt x="385512" y="26295"/>
                  </a:moveTo>
                  <a:lnTo>
                    <a:pt x="432247" y="126434"/>
                  </a:lnTo>
                  <a:cubicBezTo>
                    <a:pt x="458920" y="183585"/>
                    <a:pt x="504859" y="229524"/>
                    <a:pt x="562010" y="256197"/>
                  </a:cubicBezTo>
                  <a:lnTo>
                    <a:pt x="662149" y="302932"/>
                  </a:lnTo>
                  <a:cubicBezTo>
                    <a:pt x="678191" y="310418"/>
                    <a:pt x="688444" y="326519"/>
                    <a:pt x="688444" y="344222"/>
                  </a:cubicBezTo>
                  <a:cubicBezTo>
                    <a:pt x="688444" y="361925"/>
                    <a:pt x="678191" y="378026"/>
                    <a:pt x="662149" y="385512"/>
                  </a:cubicBezTo>
                  <a:lnTo>
                    <a:pt x="562010" y="432247"/>
                  </a:lnTo>
                  <a:cubicBezTo>
                    <a:pt x="504859" y="458920"/>
                    <a:pt x="458920" y="504859"/>
                    <a:pt x="432247" y="562010"/>
                  </a:cubicBezTo>
                  <a:lnTo>
                    <a:pt x="385512" y="662149"/>
                  </a:lnTo>
                  <a:cubicBezTo>
                    <a:pt x="378026" y="678191"/>
                    <a:pt x="361925" y="688444"/>
                    <a:pt x="344222" y="688444"/>
                  </a:cubicBezTo>
                  <a:cubicBezTo>
                    <a:pt x="326519" y="688444"/>
                    <a:pt x="310418" y="678191"/>
                    <a:pt x="302932" y="662149"/>
                  </a:cubicBezTo>
                  <a:lnTo>
                    <a:pt x="256197" y="562010"/>
                  </a:lnTo>
                  <a:cubicBezTo>
                    <a:pt x="229524" y="504859"/>
                    <a:pt x="183585" y="458920"/>
                    <a:pt x="126434" y="432247"/>
                  </a:cubicBezTo>
                  <a:lnTo>
                    <a:pt x="26295" y="385512"/>
                  </a:lnTo>
                  <a:cubicBezTo>
                    <a:pt x="10253" y="378026"/>
                    <a:pt x="0" y="361925"/>
                    <a:pt x="0" y="344222"/>
                  </a:cubicBezTo>
                  <a:cubicBezTo>
                    <a:pt x="0" y="326519"/>
                    <a:pt x="10253" y="310418"/>
                    <a:pt x="26295" y="302932"/>
                  </a:cubicBezTo>
                  <a:lnTo>
                    <a:pt x="126434" y="256197"/>
                  </a:lnTo>
                  <a:cubicBezTo>
                    <a:pt x="183585" y="229524"/>
                    <a:pt x="229524" y="183585"/>
                    <a:pt x="256197" y="126434"/>
                  </a:cubicBezTo>
                  <a:lnTo>
                    <a:pt x="302932" y="26295"/>
                  </a:lnTo>
                  <a:cubicBezTo>
                    <a:pt x="310418" y="10253"/>
                    <a:pt x="326519" y="0"/>
                    <a:pt x="344222" y="0"/>
                  </a:cubicBezTo>
                  <a:cubicBezTo>
                    <a:pt x="361925" y="0"/>
                    <a:pt x="378026" y="10253"/>
                    <a:pt x="385512" y="26295"/>
                  </a:cubicBezTo>
                  <a:close/>
                </a:path>
              </a:pathLst>
            </a:custGeom>
            <a:solidFill>
              <a:srgbClr val="FAE9B6"/>
            </a:solidFill>
            <a:ln w="38100" cap="sq">
              <a:solidFill>
                <a:srgbClr val="CFCDFF"/>
              </a:solidFill>
              <a:prstDash val="solid"/>
              <a:miter/>
            </a:ln>
          </p:spPr>
        </p:sp>
        <p:sp>
          <p:nvSpPr>
            <p:cNvPr name="TextBox 20" id="20"/>
            <p:cNvSpPr txBox="true"/>
            <p:nvPr/>
          </p:nvSpPr>
          <p:spPr>
            <a:xfrm>
              <a:off x="190500" y="152400"/>
              <a:ext cx="431800" cy="469900"/>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2109551">
            <a:off x="17085220" y="8743950"/>
            <a:ext cx="3086100" cy="3086100"/>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a:solidFill>
                <a:srgbClr val="44A4A4"/>
              </a:solidFill>
              <a:prstDash val="solid"/>
              <a:miter/>
            </a:ln>
          </p:spPr>
        </p:sp>
        <p:sp>
          <p:nvSpPr>
            <p:cNvPr name="TextBox 23" id="2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3219400">
            <a:off x="17119226" y="9150919"/>
            <a:ext cx="495030" cy="495030"/>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EBB5"/>
            </a:solidFill>
            <a:ln w="38100" cap="sq">
              <a:solidFill>
                <a:srgbClr val="006E85"/>
              </a:solidFill>
              <a:prstDash val="solid"/>
              <a:miter/>
            </a:ln>
          </p:spPr>
        </p:sp>
        <p:sp>
          <p:nvSpPr>
            <p:cNvPr name="TextBox 26" id="26"/>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7" id="27"/>
          <p:cNvGrpSpPr/>
          <p:nvPr/>
        </p:nvGrpSpPr>
        <p:grpSpPr>
          <a:xfrm rot="-3219400">
            <a:off x="17233340" y="9281708"/>
            <a:ext cx="266803" cy="233453"/>
            <a:chOff x="0" y="0"/>
            <a:chExt cx="812800" cy="711200"/>
          </a:xfrm>
        </p:grpSpPr>
        <p:sp>
          <p:nvSpPr>
            <p:cNvPr name="Freeform 28" id="28"/>
            <p:cNvSpPr/>
            <p:nvPr/>
          </p:nvSpPr>
          <p:spPr>
            <a:xfrm flipH="false" flipV="false" rot="0">
              <a:off x="0" y="0"/>
              <a:ext cx="812800" cy="711200"/>
            </a:xfrm>
            <a:custGeom>
              <a:avLst/>
              <a:gdLst/>
              <a:ahLst/>
              <a:cxnLst/>
              <a:rect r="r" b="b" t="t" l="l"/>
              <a:pathLst>
                <a:path h="711200" w="812800">
                  <a:moveTo>
                    <a:pt x="32223" y="113558"/>
                  </a:moveTo>
                  <a:cubicBezTo>
                    <a:pt x="-33680" y="222131"/>
                    <a:pt x="12749" y="327809"/>
                    <a:pt x="71096" y="383897"/>
                  </a:cubicBezTo>
                  <a:lnTo>
                    <a:pt x="412247" y="711200"/>
                  </a:lnTo>
                  <a:lnTo>
                    <a:pt x="746197" y="385067"/>
                  </a:lnTo>
                  <a:cubicBezTo>
                    <a:pt x="800465" y="324730"/>
                    <a:pt x="821266" y="260730"/>
                    <a:pt x="809713" y="189465"/>
                  </a:cubicBezTo>
                  <a:cubicBezTo>
                    <a:pt x="793755" y="90882"/>
                    <a:pt x="712517" y="14398"/>
                    <a:pt x="612162" y="3476"/>
                  </a:cubicBezTo>
                  <a:cubicBezTo>
                    <a:pt x="550612" y="-3151"/>
                    <a:pt x="491155" y="14267"/>
                    <a:pt x="444750" y="52829"/>
                  </a:cubicBezTo>
                  <a:cubicBezTo>
                    <a:pt x="432260" y="63204"/>
                    <a:pt x="421096" y="74804"/>
                    <a:pt x="411367" y="87411"/>
                  </a:cubicBezTo>
                  <a:cubicBezTo>
                    <a:pt x="399823" y="73056"/>
                    <a:pt x="386287" y="59925"/>
                    <a:pt x="370977" y="48288"/>
                  </a:cubicBezTo>
                  <a:cubicBezTo>
                    <a:pt x="317614" y="7733"/>
                    <a:pt x="249687" y="-8369"/>
                    <a:pt x="184440" y="4154"/>
                  </a:cubicBezTo>
                  <a:cubicBezTo>
                    <a:pt x="122643" y="16092"/>
                    <a:pt x="67173" y="55954"/>
                    <a:pt x="32223" y="113558"/>
                  </a:cubicBezTo>
                  <a:close/>
                </a:path>
              </a:pathLst>
            </a:custGeom>
            <a:solidFill>
              <a:srgbClr val="FFB5EA"/>
            </a:solidFill>
            <a:ln w="28575" cap="sq">
              <a:solidFill>
                <a:srgbClr val="44A4A4"/>
              </a:solidFill>
              <a:prstDash val="solid"/>
              <a:miter/>
            </a:ln>
          </p:spPr>
        </p:sp>
        <p:sp>
          <p:nvSpPr>
            <p:cNvPr name="TextBox 29" id="29"/>
            <p:cNvSpPr txBox="true"/>
            <p:nvPr/>
          </p:nvSpPr>
          <p:spPr>
            <a:xfrm>
              <a:off x="76200" y="12700"/>
              <a:ext cx="660400" cy="571500"/>
            </a:xfrm>
            <a:prstGeom prst="rect">
              <a:avLst/>
            </a:prstGeom>
          </p:spPr>
          <p:txBody>
            <a:bodyPr anchor="ctr" rtlCol="false" tIns="50800" lIns="50800" bIns="50800" rIns="50800"/>
            <a:lstStyle/>
            <a:p>
              <a:pPr algn="ctr">
                <a:lnSpc>
                  <a:spcPts val="2659"/>
                </a:lnSpc>
              </a:pPr>
            </a:p>
          </p:txBody>
        </p:sp>
      </p:grpSp>
      <p:grpSp>
        <p:nvGrpSpPr>
          <p:cNvPr name="Group 30" id="30"/>
          <p:cNvGrpSpPr/>
          <p:nvPr/>
        </p:nvGrpSpPr>
        <p:grpSpPr>
          <a:xfrm rot="-10697852">
            <a:off x="-2283127" y="6083819"/>
            <a:ext cx="3086100" cy="3086100"/>
            <a:chOff x="0" y="0"/>
            <a:chExt cx="812800" cy="812800"/>
          </a:xfrm>
        </p:grpSpPr>
        <p:sp>
          <p:nvSpPr>
            <p:cNvPr name="Freeform 31" id="3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a:solidFill>
                <a:srgbClr val="44A4A4"/>
              </a:solidFill>
              <a:prstDash val="solid"/>
              <a:miter/>
            </a:ln>
          </p:spPr>
        </p:sp>
        <p:sp>
          <p:nvSpPr>
            <p:cNvPr name="TextBox 32" id="32"/>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33" id="33"/>
          <p:cNvGrpSpPr/>
          <p:nvPr/>
        </p:nvGrpSpPr>
        <p:grpSpPr>
          <a:xfrm rot="5573195">
            <a:off x="554777" y="7425196"/>
            <a:ext cx="495030" cy="495030"/>
            <a:chOff x="0" y="0"/>
            <a:chExt cx="812800" cy="812800"/>
          </a:xfrm>
        </p:grpSpPr>
        <p:sp>
          <p:nvSpPr>
            <p:cNvPr name="Freeform 34" id="3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EBB5"/>
            </a:solidFill>
            <a:ln w="38100" cap="sq">
              <a:solidFill>
                <a:srgbClr val="006E85"/>
              </a:solidFill>
              <a:prstDash val="solid"/>
              <a:miter/>
            </a:ln>
          </p:spPr>
        </p:sp>
        <p:sp>
          <p:nvSpPr>
            <p:cNvPr name="TextBox 35" id="35"/>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36" id="36"/>
          <p:cNvGrpSpPr/>
          <p:nvPr/>
        </p:nvGrpSpPr>
        <p:grpSpPr>
          <a:xfrm rot="-1306797">
            <a:off x="668890" y="7555985"/>
            <a:ext cx="266803" cy="233453"/>
            <a:chOff x="0" y="0"/>
            <a:chExt cx="812800" cy="711200"/>
          </a:xfrm>
        </p:grpSpPr>
        <p:sp>
          <p:nvSpPr>
            <p:cNvPr name="Freeform 37" id="37"/>
            <p:cNvSpPr/>
            <p:nvPr/>
          </p:nvSpPr>
          <p:spPr>
            <a:xfrm flipH="false" flipV="false" rot="0">
              <a:off x="0" y="0"/>
              <a:ext cx="812800" cy="711200"/>
            </a:xfrm>
            <a:custGeom>
              <a:avLst/>
              <a:gdLst/>
              <a:ahLst/>
              <a:cxnLst/>
              <a:rect r="r" b="b" t="t" l="l"/>
              <a:pathLst>
                <a:path h="711200" w="812800">
                  <a:moveTo>
                    <a:pt x="32223" y="113558"/>
                  </a:moveTo>
                  <a:cubicBezTo>
                    <a:pt x="-33680" y="222131"/>
                    <a:pt x="12749" y="327809"/>
                    <a:pt x="71096" y="383897"/>
                  </a:cubicBezTo>
                  <a:lnTo>
                    <a:pt x="412247" y="711200"/>
                  </a:lnTo>
                  <a:lnTo>
                    <a:pt x="746197" y="385067"/>
                  </a:lnTo>
                  <a:cubicBezTo>
                    <a:pt x="800465" y="324730"/>
                    <a:pt x="821266" y="260730"/>
                    <a:pt x="809713" y="189465"/>
                  </a:cubicBezTo>
                  <a:cubicBezTo>
                    <a:pt x="793755" y="90882"/>
                    <a:pt x="712517" y="14398"/>
                    <a:pt x="612162" y="3476"/>
                  </a:cubicBezTo>
                  <a:cubicBezTo>
                    <a:pt x="550612" y="-3151"/>
                    <a:pt x="491155" y="14267"/>
                    <a:pt x="444750" y="52829"/>
                  </a:cubicBezTo>
                  <a:cubicBezTo>
                    <a:pt x="432260" y="63204"/>
                    <a:pt x="421096" y="74804"/>
                    <a:pt x="411367" y="87411"/>
                  </a:cubicBezTo>
                  <a:cubicBezTo>
                    <a:pt x="399823" y="73056"/>
                    <a:pt x="386287" y="59925"/>
                    <a:pt x="370977" y="48288"/>
                  </a:cubicBezTo>
                  <a:cubicBezTo>
                    <a:pt x="317614" y="7733"/>
                    <a:pt x="249687" y="-8369"/>
                    <a:pt x="184440" y="4154"/>
                  </a:cubicBezTo>
                  <a:cubicBezTo>
                    <a:pt x="122643" y="16092"/>
                    <a:pt x="67173" y="55954"/>
                    <a:pt x="32223" y="113558"/>
                  </a:cubicBezTo>
                  <a:close/>
                </a:path>
              </a:pathLst>
            </a:custGeom>
            <a:solidFill>
              <a:srgbClr val="FFB5EA"/>
            </a:solidFill>
            <a:ln w="28575" cap="sq">
              <a:solidFill>
                <a:srgbClr val="44A4A4"/>
              </a:solidFill>
              <a:prstDash val="solid"/>
              <a:miter/>
            </a:ln>
          </p:spPr>
        </p:sp>
        <p:sp>
          <p:nvSpPr>
            <p:cNvPr name="TextBox 38" id="38"/>
            <p:cNvSpPr txBox="true"/>
            <p:nvPr/>
          </p:nvSpPr>
          <p:spPr>
            <a:xfrm>
              <a:off x="76200" y="12700"/>
              <a:ext cx="660400" cy="571500"/>
            </a:xfrm>
            <a:prstGeom prst="rect">
              <a:avLst/>
            </a:prstGeom>
          </p:spPr>
          <p:txBody>
            <a:bodyPr anchor="ctr" rtlCol="false" tIns="50800" lIns="50800" bIns="50800" rIns="50800"/>
            <a:lstStyle/>
            <a:p>
              <a:pPr algn="ctr">
                <a:lnSpc>
                  <a:spcPts val="2659"/>
                </a:lnSpc>
              </a:pPr>
            </a:p>
          </p:txBody>
        </p:sp>
      </p:grpSp>
      <p:sp>
        <p:nvSpPr>
          <p:cNvPr name="Freeform 39" id="39"/>
          <p:cNvSpPr/>
          <p:nvPr/>
        </p:nvSpPr>
        <p:spPr>
          <a:xfrm flipH="false" flipV="false" rot="0">
            <a:off x="1184102" y="9215080"/>
            <a:ext cx="6033378" cy="2062318"/>
          </a:xfrm>
          <a:custGeom>
            <a:avLst/>
            <a:gdLst/>
            <a:ahLst/>
            <a:cxnLst/>
            <a:rect r="r" b="b" t="t" l="l"/>
            <a:pathLst>
              <a:path h="2062318" w="6033378">
                <a:moveTo>
                  <a:pt x="0" y="0"/>
                </a:moveTo>
                <a:lnTo>
                  <a:pt x="6033378" y="0"/>
                </a:lnTo>
                <a:lnTo>
                  <a:pt x="6033378" y="2062319"/>
                </a:lnTo>
                <a:lnTo>
                  <a:pt x="0" y="206231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40" id="40"/>
          <p:cNvGrpSpPr/>
          <p:nvPr/>
        </p:nvGrpSpPr>
        <p:grpSpPr>
          <a:xfrm rot="0">
            <a:off x="1402842" y="1879653"/>
            <a:ext cx="6092711" cy="411477"/>
            <a:chOff x="0" y="0"/>
            <a:chExt cx="1604665" cy="108372"/>
          </a:xfrm>
        </p:grpSpPr>
        <p:sp>
          <p:nvSpPr>
            <p:cNvPr name="Freeform 41" id="41"/>
            <p:cNvSpPr/>
            <p:nvPr/>
          </p:nvSpPr>
          <p:spPr>
            <a:xfrm flipH="false" flipV="false" rot="0">
              <a:off x="0" y="0"/>
              <a:ext cx="1604665" cy="108372"/>
            </a:xfrm>
            <a:custGeom>
              <a:avLst/>
              <a:gdLst/>
              <a:ahLst/>
              <a:cxnLst/>
              <a:rect r="r" b="b" t="t" l="l"/>
              <a:pathLst>
                <a:path h="108372" w="1604665">
                  <a:moveTo>
                    <a:pt x="0" y="0"/>
                  </a:moveTo>
                  <a:lnTo>
                    <a:pt x="1604665" y="0"/>
                  </a:lnTo>
                  <a:lnTo>
                    <a:pt x="1604665" y="108372"/>
                  </a:lnTo>
                  <a:lnTo>
                    <a:pt x="0" y="108372"/>
                  </a:lnTo>
                  <a:close/>
                </a:path>
              </a:pathLst>
            </a:custGeom>
            <a:solidFill>
              <a:srgbClr val="A8DED6"/>
            </a:solidFill>
            <a:ln cap="sq">
              <a:noFill/>
              <a:prstDash val="solid"/>
              <a:miter/>
            </a:ln>
          </p:spPr>
        </p:sp>
        <p:sp>
          <p:nvSpPr>
            <p:cNvPr name="TextBox 42" id="42"/>
            <p:cNvSpPr txBox="true"/>
            <p:nvPr/>
          </p:nvSpPr>
          <p:spPr>
            <a:xfrm>
              <a:off x="0" y="-38100"/>
              <a:ext cx="1604665" cy="146472"/>
            </a:xfrm>
            <a:prstGeom prst="rect">
              <a:avLst/>
            </a:prstGeom>
          </p:spPr>
          <p:txBody>
            <a:bodyPr anchor="ctr" rtlCol="false" tIns="50800" lIns="50800" bIns="50800" rIns="50800"/>
            <a:lstStyle/>
            <a:p>
              <a:pPr algn="ctr">
                <a:lnSpc>
                  <a:spcPts val="2659"/>
                </a:lnSpc>
              </a:pPr>
            </a:p>
          </p:txBody>
        </p:sp>
      </p:grpSp>
      <p:sp>
        <p:nvSpPr>
          <p:cNvPr name="Freeform 43" id="43"/>
          <p:cNvSpPr/>
          <p:nvPr/>
        </p:nvSpPr>
        <p:spPr>
          <a:xfrm flipH="false" flipV="false" rot="-2478875">
            <a:off x="16293730" y="7931144"/>
            <a:ext cx="732146" cy="983168"/>
          </a:xfrm>
          <a:custGeom>
            <a:avLst/>
            <a:gdLst/>
            <a:ahLst/>
            <a:cxnLst/>
            <a:rect r="r" b="b" t="t" l="l"/>
            <a:pathLst>
              <a:path h="983168" w="732146">
                <a:moveTo>
                  <a:pt x="0" y="0"/>
                </a:moveTo>
                <a:lnTo>
                  <a:pt x="732147" y="0"/>
                </a:lnTo>
                <a:lnTo>
                  <a:pt x="732147" y="983168"/>
                </a:lnTo>
                <a:lnTo>
                  <a:pt x="0" y="98316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44" id="44"/>
          <p:cNvSpPr/>
          <p:nvPr/>
        </p:nvSpPr>
        <p:spPr>
          <a:xfrm flipH="false" flipV="false" rot="707332">
            <a:off x="7860465" y="7864544"/>
            <a:ext cx="618235" cy="989177"/>
          </a:xfrm>
          <a:custGeom>
            <a:avLst/>
            <a:gdLst/>
            <a:ahLst/>
            <a:cxnLst/>
            <a:rect r="r" b="b" t="t" l="l"/>
            <a:pathLst>
              <a:path h="989177" w="618235">
                <a:moveTo>
                  <a:pt x="0" y="0"/>
                </a:moveTo>
                <a:lnTo>
                  <a:pt x="618236" y="0"/>
                </a:lnTo>
                <a:lnTo>
                  <a:pt x="618236" y="989177"/>
                </a:lnTo>
                <a:lnTo>
                  <a:pt x="0" y="989177"/>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45" id="45"/>
          <p:cNvSpPr txBox="true"/>
          <p:nvPr/>
        </p:nvSpPr>
        <p:spPr>
          <a:xfrm rot="0">
            <a:off x="2054601" y="1870128"/>
            <a:ext cx="5244419" cy="466550"/>
          </a:xfrm>
          <a:prstGeom prst="rect">
            <a:avLst/>
          </a:prstGeom>
        </p:spPr>
        <p:txBody>
          <a:bodyPr anchor="t" rtlCol="false" tIns="0" lIns="0" bIns="0" rIns="0">
            <a:spAutoFit/>
          </a:bodyPr>
          <a:lstStyle/>
          <a:p>
            <a:pPr algn="ctr">
              <a:lnSpc>
                <a:spcPts val="3051"/>
              </a:lnSpc>
            </a:pPr>
            <a:r>
              <a:rPr lang="en-US" sz="3021">
                <a:solidFill>
                  <a:srgbClr val="000000"/>
                </a:solidFill>
                <a:latin typeface="Chunk Five"/>
                <a:ea typeface="Chunk Five"/>
                <a:cs typeface="Chunk Five"/>
                <a:sym typeface="Chunk Five"/>
              </a:rPr>
              <a:t>THE DATA</a:t>
            </a:r>
          </a:p>
        </p:txBody>
      </p:sp>
      <p:sp>
        <p:nvSpPr>
          <p:cNvPr name="TextBox 46" id="46"/>
          <p:cNvSpPr txBox="true"/>
          <p:nvPr/>
        </p:nvSpPr>
        <p:spPr>
          <a:xfrm rot="0">
            <a:off x="10577867" y="1938450"/>
            <a:ext cx="5689375" cy="3954526"/>
          </a:xfrm>
          <a:prstGeom prst="rect">
            <a:avLst/>
          </a:prstGeom>
        </p:spPr>
        <p:txBody>
          <a:bodyPr anchor="t" rtlCol="false" tIns="0" lIns="0" bIns="0" rIns="0">
            <a:spAutoFit/>
          </a:bodyPr>
          <a:lstStyle/>
          <a:p>
            <a:pPr algn="l" marL="402253" indent="-201127" lvl="1">
              <a:lnSpc>
                <a:spcPts val="2608"/>
              </a:lnSpc>
              <a:buFont typeface="Arial"/>
              <a:buChar char="•"/>
            </a:pPr>
            <a:r>
              <a:rPr lang="en-US" sz="1863">
                <a:solidFill>
                  <a:srgbClr val="000000"/>
                </a:solidFill>
                <a:latin typeface="Inter"/>
                <a:ea typeface="Inter"/>
                <a:cs typeface="Inter"/>
                <a:sym typeface="Inter"/>
              </a:rPr>
              <a:t>Highlight Utama: Angka Total Revenue ($698,812) ditampilkan dalam kotak besar di pojok kanan atas agar audiens langsung melihat "The Big Picture".</a:t>
            </a:r>
          </a:p>
          <a:p>
            <a:pPr algn="l" marL="402253" indent="-201127" lvl="1">
              <a:lnSpc>
                <a:spcPts val="2608"/>
              </a:lnSpc>
              <a:buFont typeface="Arial"/>
              <a:buChar char="•"/>
            </a:pPr>
            <a:r>
              <a:rPr lang="en-US" sz="1863">
                <a:solidFill>
                  <a:srgbClr val="000000"/>
                </a:solidFill>
                <a:latin typeface="Inter"/>
                <a:ea typeface="Inter"/>
                <a:cs typeface="Inter"/>
                <a:sym typeface="Inter"/>
              </a:rPr>
              <a:t>Perbandingan Lokasi: Grafik batang menunjukkan kontribusi masing-masing cabang. Hell's Kitchen terlihat jelas sebagai pemimpin pasar.</a:t>
            </a:r>
          </a:p>
          <a:p>
            <a:pPr algn="l" marL="402253" indent="-201127" lvl="1">
              <a:lnSpc>
                <a:spcPts val="2608"/>
              </a:lnSpc>
              <a:buFont typeface="Arial"/>
              <a:buChar char="•"/>
            </a:pPr>
            <a:r>
              <a:rPr lang="en-US" sz="1863">
                <a:solidFill>
                  <a:srgbClr val="000000"/>
                </a:solidFill>
                <a:latin typeface="Inter"/>
                <a:ea typeface="Inter"/>
                <a:cs typeface="Inter"/>
                <a:sym typeface="Inter"/>
              </a:rPr>
              <a:t>Ske</a:t>
            </a:r>
            <a:r>
              <a:rPr lang="en-US" sz="1863">
                <a:solidFill>
                  <a:srgbClr val="000000"/>
                </a:solidFill>
                <a:latin typeface="Inter"/>
                <a:ea typeface="Inter"/>
                <a:cs typeface="Inter"/>
                <a:sym typeface="Inter"/>
              </a:rPr>
              <a:t>ma Warna: Menggunakan Coffee Tones (Cokelat Tua ke Muda) yang profesional dan relevan dengan bisnis Urban Brew.</a:t>
            </a:r>
          </a:p>
          <a:p>
            <a:pPr algn="l" marL="0" indent="0" lvl="0">
              <a:lnSpc>
                <a:spcPts val="2608"/>
              </a:lnSpc>
              <a:spcBef>
                <a:spcPct val="0"/>
              </a:spcBef>
            </a:pPr>
          </a:p>
        </p:txBody>
      </p:sp>
      <p:pic>
        <p:nvPicPr>
          <p:cNvPr name="Picture 47" id="47"/>
          <p:cNvPicPr>
            <a:picLocks noChangeAspect="true"/>
          </p:cNvPicPr>
          <p:nvPr/>
        </p:nvPicPr>
        <p:blipFill>
          <a:blip r:embed="rId15"/>
          <a:stretch>
            <a:fillRect/>
          </a:stretch>
        </p:blipFill>
        <p:spPr>
          <a:xfrm rot="0">
            <a:off x="1361771" y="2846093"/>
            <a:ext cx="7246373" cy="5430484"/>
          </a:xfrm>
          <a:prstGeom prst="rect">
            <a:avLst/>
          </a:prstGeom>
        </p:spPr>
      </p:pic>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6215986" y="7786532"/>
            <a:ext cx="7315200" cy="2500468"/>
          </a:xfrm>
          <a:custGeom>
            <a:avLst/>
            <a:gdLst/>
            <a:ahLst/>
            <a:cxnLst/>
            <a:rect r="r" b="b" t="t" l="l"/>
            <a:pathLst>
              <a:path h="2500468" w="7315200">
                <a:moveTo>
                  <a:pt x="0" y="0"/>
                </a:moveTo>
                <a:lnTo>
                  <a:pt x="7315200" y="0"/>
                </a:lnTo>
                <a:lnTo>
                  <a:pt x="7315200" y="2500468"/>
                </a:lnTo>
                <a:lnTo>
                  <a:pt x="0" y="250046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073922" y="8911412"/>
            <a:ext cx="7315200" cy="2500468"/>
          </a:xfrm>
          <a:custGeom>
            <a:avLst/>
            <a:gdLst/>
            <a:ahLst/>
            <a:cxnLst/>
            <a:rect r="r" b="b" t="t" l="l"/>
            <a:pathLst>
              <a:path h="2500468" w="7315200">
                <a:moveTo>
                  <a:pt x="0" y="0"/>
                </a:moveTo>
                <a:lnTo>
                  <a:pt x="7315200" y="0"/>
                </a:lnTo>
                <a:lnTo>
                  <a:pt x="7315200" y="2500468"/>
                </a:lnTo>
                <a:lnTo>
                  <a:pt x="0" y="250046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5780284" y="668503"/>
            <a:ext cx="7315200" cy="2500468"/>
          </a:xfrm>
          <a:custGeom>
            <a:avLst/>
            <a:gdLst/>
            <a:ahLst/>
            <a:cxnLst/>
            <a:rect r="r" b="b" t="t" l="l"/>
            <a:pathLst>
              <a:path h="2500468" w="7315200">
                <a:moveTo>
                  <a:pt x="0" y="0"/>
                </a:moveTo>
                <a:lnTo>
                  <a:pt x="7315200" y="0"/>
                </a:lnTo>
                <a:lnTo>
                  <a:pt x="7315200" y="2500468"/>
                </a:lnTo>
                <a:lnTo>
                  <a:pt x="0" y="250046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5030918" y="537985"/>
            <a:ext cx="7315200" cy="2500468"/>
          </a:xfrm>
          <a:custGeom>
            <a:avLst/>
            <a:gdLst/>
            <a:ahLst/>
            <a:cxnLst/>
            <a:rect r="r" b="b" t="t" l="l"/>
            <a:pathLst>
              <a:path h="2500468" w="7315200">
                <a:moveTo>
                  <a:pt x="0" y="0"/>
                </a:moveTo>
                <a:lnTo>
                  <a:pt x="7315200" y="0"/>
                </a:lnTo>
                <a:lnTo>
                  <a:pt x="7315200" y="2500468"/>
                </a:lnTo>
                <a:lnTo>
                  <a:pt x="0" y="250046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896330" y="2595060"/>
            <a:ext cx="11760216" cy="6903976"/>
            <a:chOff x="0" y="0"/>
            <a:chExt cx="3097341" cy="1818331"/>
          </a:xfrm>
        </p:grpSpPr>
        <p:sp>
          <p:nvSpPr>
            <p:cNvPr name="Freeform 8" id="8"/>
            <p:cNvSpPr/>
            <p:nvPr/>
          </p:nvSpPr>
          <p:spPr>
            <a:xfrm flipH="false" flipV="false" rot="0">
              <a:off x="0" y="0"/>
              <a:ext cx="3097341" cy="1818331"/>
            </a:xfrm>
            <a:custGeom>
              <a:avLst/>
              <a:gdLst/>
              <a:ahLst/>
              <a:cxnLst/>
              <a:rect r="r" b="b" t="t" l="l"/>
              <a:pathLst>
                <a:path h="1818331" w="3097341">
                  <a:moveTo>
                    <a:pt x="13825" y="0"/>
                  </a:moveTo>
                  <a:lnTo>
                    <a:pt x="3083516" y="0"/>
                  </a:lnTo>
                  <a:cubicBezTo>
                    <a:pt x="3087183" y="0"/>
                    <a:pt x="3090699" y="1457"/>
                    <a:pt x="3093292" y="4049"/>
                  </a:cubicBezTo>
                  <a:cubicBezTo>
                    <a:pt x="3095884" y="6642"/>
                    <a:pt x="3097341" y="10158"/>
                    <a:pt x="3097341" y="13825"/>
                  </a:cubicBezTo>
                  <a:lnTo>
                    <a:pt x="3097341" y="1804507"/>
                  </a:lnTo>
                  <a:cubicBezTo>
                    <a:pt x="3097341" y="1812142"/>
                    <a:pt x="3091151" y="1818331"/>
                    <a:pt x="3083516" y="1818331"/>
                  </a:cubicBezTo>
                  <a:lnTo>
                    <a:pt x="13825" y="1818331"/>
                  </a:lnTo>
                  <a:cubicBezTo>
                    <a:pt x="6189" y="1818331"/>
                    <a:pt x="0" y="1812142"/>
                    <a:pt x="0" y="1804507"/>
                  </a:cubicBezTo>
                  <a:lnTo>
                    <a:pt x="0" y="13825"/>
                  </a:lnTo>
                  <a:cubicBezTo>
                    <a:pt x="0" y="6189"/>
                    <a:pt x="6189" y="0"/>
                    <a:pt x="13825" y="0"/>
                  </a:cubicBezTo>
                  <a:close/>
                </a:path>
              </a:pathLst>
            </a:custGeom>
            <a:solidFill>
              <a:srgbClr val="FFFFFF"/>
            </a:solidFill>
            <a:ln w="19050" cap="rnd">
              <a:solidFill>
                <a:srgbClr val="006E85"/>
              </a:solidFill>
              <a:prstDash val="solid"/>
              <a:round/>
            </a:ln>
          </p:spPr>
        </p:sp>
        <p:sp>
          <p:nvSpPr>
            <p:cNvPr name="TextBox 9" id="9"/>
            <p:cNvSpPr txBox="true"/>
            <p:nvPr/>
          </p:nvSpPr>
          <p:spPr>
            <a:xfrm>
              <a:off x="0" y="-38100"/>
              <a:ext cx="3097341" cy="1856431"/>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886805" y="2586166"/>
            <a:ext cx="11769741" cy="582806"/>
            <a:chOff x="0" y="0"/>
            <a:chExt cx="3099849" cy="153496"/>
          </a:xfrm>
        </p:grpSpPr>
        <p:sp>
          <p:nvSpPr>
            <p:cNvPr name="Freeform 11" id="11"/>
            <p:cNvSpPr/>
            <p:nvPr/>
          </p:nvSpPr>
          <p:spPr>
            <a:xfrm flipH="false" flipV="false" rot="0">
              <a:off x="0" y="0"/>
              <a:ext cx="3099849" cy="153496"/>
            </a:xfrm>
            <a:custGeom>
              <a:avLst/>
              <a:gdLst/>
              <a:ahLst/>
              <a:cxnLst/>
              <a:rect r="r" b="b" t="t" l="l"/>
              <a:pathLst>
                <a:path h="153496" w="3099849">
                  <a:moveTo>
                    <a:pt x="6578" y="0"/>
                  </a:moveTo>
                  <a:lnTo>
                    <a:pt x="3093271" y="0"/>
                  </a:lnTo>
                  <a:cubicBezTo>
                    <a:pt x="3096904" y="0"/>
                    <a:pt x="3099849" y="2945"/>
                    <a:pt x="3099849" y="6578"/>
                  </a:cubicBezTo>
                  <a:lnTo>
                    <a:pt x="3099849" y="146918"/>
                  </a:lnTo>
                  <a:cubicBezTo>
                    <a:pt x="3099849" y="148663"/>
                    <a:pt x="3099156" y="150336"/>
                    <a:pt x="3097923" y="151570"/>
                  </a:cubicBezTo>
                  <a:cubicBezTo>
                    <a:pt x="3096689" y="152803"/>
                    <a:pt x="3095016" y="153496"/>
                    <a:pt x="3093271" y="153496"/>
                  </a:cubicBezTo>
                  <a:lnTo>
                    <a:pt x="6578" y="153496"/>
                  </a:lnTo>
                  <a:cubicBezTo>
                    <a:pt x="4833" y="153496"/>
                    <a:pt x="3160" y="152803"/>
                    <a:pt x="1927" y="151570"/>
                  </a:cubicBezTo>
                  <a:cubicBezTo>
                    <a:pt x="693" y="150336"/>
                    <a:pt x="0" y="148663"/>
                    <a:pt x="0" y="146918"/>
                  </a:cubicBezTo>
                  <a:lnTo>
                    <a:pt x="0" y="6578"/>
                  </a:lnTo>
                  <a:cubicBezTo>
                    <a:pt x="0" y="4833"/>
                    <a:pt x="693" y="3160"/>
                    <a:pt x="1927" y="1927"/>
                  </a:cubicBezTo>
                  <a:cubicBezTo>
                    <a:pt x="3160" y="693"/>
                    <a:pt x="4833" y="0"/>
                    <a:pt x="6578" y="0"/>
                  </a:cubicBezTo>
                  <a:close/>
                </a:path>
              </a:pathLst>
            </a:custGeom>
            <a:solidFill>
              <a:srgbClr val="D5BFE4"/>
            </a:solidFill>
            <a:ln w="19050" cap="sq">
              <a:solidFill>
                <a:srgbClr val="006E85"/>
              </a:solidFill>
              <a:prstDash val="solid"/>
              <a:miter/>
            </a:ln>
          </p:spPr>
        </p:sp>
        <p:sp>
          <p:nvSpPr>
            <p:cNvPr name="TextBox 12" id="12"/>
            <p:cNvSpPr txBox="true"/>
            <p:nvPr/>
          </p:nvSpPr>
          <p:spPr>
            <a:xfrm>
              <a:off x="0" y="-38100"/>
              <a:ext cx="3099849" cy="191596"/>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9547329" y="2722918"/>
            <a:ext cx="2863374" cy="310780"/>
            <a:chOff x="0" y="0"/>
            <a:chExt cx="754140" cy="81852"/>
          </a:xfrm>
        </p:grpSpPr>
        <p:sp>
          <p:nvSpPr>
            <p:cNvPr name="Freeform 14" id="14"/>
            <p:cNvSpPr/>
            <p:nvPr/>
          </p:nvSpPr>
          <p:spPr>
            <a:xfrm flipH="false" flipV="false" rot="0">
              <a:off x="0" y="0"/>
              <a:ext cx="754140" cy="81852"/>
            </a:xfrm>
            <a:custGeom>
              <a:avLst/>
              <a:gdLst/>
              <a:ahLst/>
              <a:cxnLst/>
              <a:rect r="r" b="b" t="t" l="l"/>
              <a:pathLst>
                <a:path h="81852" w="754140">
                  <a:moveTo>
                    <a:pt x="27038" y="0"/>
                  </a:moveTo>
                  <a:lnTo>
                    <a:pt x="727102" y="0"/>
                  </a:lnTo>
                  <a:cubicBezTo>
                    <a:pt x="742034" y="0"/>
                    <a:pt x="754140" y="12105"/>
                    <a:pt x="754140" y="27038"/>
                  </a:cubicBezTo>
                  <a:lnTo>
                    <a:pt x="754140" y="54814"/>
                  </a:lnTo>
                  <a:cubicBezTo>
                    <a:pt x="754140" y="69746"/>
                    <a:pt x="742034" y="81852"/>
                    <a:pt x="727102" y="81852"/>
                  </a:cubicBezTo>
                  <a:lnTo>
                    <a:pt x="27038" y="81852"/>
                  </a:lnTo>
                  <a:cubicBezTo>
                    <a:pt x="12105" y="81852"/>
                    <a:pt x="0" y="69746"/>
                    <a:pt x="0" y="54814"/>
                  </a:cubicBezTo>
                  <a:lnTo>
                    <a:pt x="0" y="27038"/>
                  </a:lnTo>
                  <a:cubicBezTo>
                    <a:pt x="0" y="12105"/>
                    <a:pt x="12105" y="0"/>
                    <a:pt x="27038" y="0"/>
                  </a:cubicBezTo>
                  <a:close/>
                </a:path>
              </a:pathLst>
            </a:custGeom>
            <a:solidFill>
              <a:srgbClr val="FFFFFF"/>
            </a:solidFill>
            <a:ln w="19050" cap="sq">
              <a:solidFill>
                <a:srgbClr val="006E85"/>
              </a:solidFill>
              <a:prstDash val="solid"/>
              <a:miter/>
            </a:ln>
          </p:spPr>
        </p:sp>
        <p:sp>
          <p:nvSpPr>
            <p:cNvPr name="TextBox 15" id="15"/>
            <p:cNvSpPr txBox="true"/>
            <p:nvPr/>
          </p:nvSpPr>
          <p:spPr>
            <a:xfrm>
              <a:off x="0" y="-38100"/>
              <a:ext cx="754140" cy="119952"/>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13099582" y="4390280"/>
            <a:ext cx="4571017" cy="3347213"/>
            <a:chOff x="0" y="0"/>
            <a:chExt cx="1203889" cy="881571"/>
          </a:xfrm>
        </p:grpSpPr>
        <p:sp>
          <p:nvSpPr>
            <p:cNvPr name="Freeform 17" id="17"/>
            <p:cNvSpPr/>
            <p:nvPr/>
          </p:nvSpPr>
          <p:spPr>
            <a:xfrm flipH="false" flipV="false" rot="0">
              <a:off x="0" y="0"/>
              <a:ext cx="1203889" cy="881571"/>
            </a:xfrm>
            <a:custGeom>
              <a:avLst/>
              <a:gdLst/>
              <a:ahLst/>
              <a:cxnLst/>
              <a:rect r="r" b="b" t="t" l="l"/>
              <a:pathLst>
                <a:path h="881571" w="1203889">
                  <a:moveTo>
                    <a:pt x="35568" y="0"/>
                  </a:moveTo>
                  <a:lnTo>
                    <a:pt x="1168322" y="0"/>
                  </a:lnTo>
                  <a:cubicBezTo>
                    <a:pt x="1187965" y="0"/>
                    <a:pt x="1203889" y="15924"/>
                    <a:pt x="1203889" y="35568"/>
                  </a:cubicBezTo>
                  <a:lnTo>
                    <a:pt x="1203889" y="846003"/>
                  </a:lnTo>
                  <a:cubicBezTo>
                    <a:pt x="1203889" y="865646"/>
                    <a:pt x="1187965" y="881571"/>
                    <a:pt x="1168322" y="881571"/>
                  </a:cubicBezTo>
                  <a:lnTo>
                    <a:pt x="35568" y="881571"/>
                  </a:lnTo>
                  <a:cubicBezTo>
                    <a:pt x="15924" y="881571"/>
                    <a:pt x="0" y="865646"/>
                    <a:pt x="0" y="846003"/>
                  </a:cubicBezTo>
                  <a:lnTo>
                    <a:pt x="0" y="35568"/>
                  </a:lnTo>
                  <a:cubicBezTo>
                    <a:pt x="0" y="15924"/>
                    <a:pt x="15924" y="0"/>
                    <a:pt x="35568" y="0"/>
                  </a:cubicBezTo>
                  <a:close/>
                </a:path>
              </a:pathLst>
            </a:custGeom>
            <a:solidFill>
              <a:srgbClr val="FFFFFF"/>
            </a:solidFill>
            <a:ln w="19050" cap="rnd">
              <a:solidFill>
                <a:srgbClr val="006E85"/>
              </a:solidFill>
              <a:prstDash val="solid"/>
              <a:round/>
            </a:ln>
          </p:spPr>
        </p:sp>
        <p:sp>
          <p:nvSpPr>
            <p:cNvPr name="TextBox 18" id="18"/>
            <p:cNvSpPr txBox="true"/>
            <p:nvPr/>
          </p:nvSpPr>
          <p:spPr>
            <a:xfrm>
              <a:off x="0" y="-38100"/>
              <a:ext cx="1203889" cy="919671"/>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0">
            <a:off x="13099582" y="4390280"/>
            <a:ext cx="4577996" cy="582806"/>
            <a:chOff x="0" y="0"/>
            <a:chExt cx="1205727" cy="153496"/>
          </a:xfrm>
        </p:grpSpPr>
        <p:sp>
          <p:nvSpPr>
            <p:cNvPr name="Freeform 20" id="20"/>
            <p:cNvSpPr/>
            <p:nvPr/>
          </p:nvSpPr>
          <p:spPr>
            <a:xfrm flipH="false" flipV="false" rot="0">
              <a:off x="0" y="0"/>
              <a:ext cx="1205727" cy="153496"/>
            </a:xfrm>
            <a:custGeom>
              <a:avLst/>
              <a:gdLst/>
              <a:ahLst/>
              <a:cxnLst/>
              <a:rect r="r" b="b" t="t" l="l"/>
              <a:pathLst>
                <a:path h="153496" w="1205727">
                  <a:moveTo>
                    <a:pt x="16911" y="0"/>
                  </a:moveTo>
                  <a:lnTo>
                    <a:pt x="1188816" y="0"/>
                  </a:lnTo>
                  <a:cubicBezTo>
                    <a:pt x="1193301" y="0"/>
                    <a:pt x="1197603" y="1782"/>
                    <a:pt x="1200774" y="4953"/>
                  </a:cubicBezTo>
                  <a:cubicBezTo>
                    <a:pt x="1203946" y="8125"/>
                    <a:pt x="1205727" y="12426"/>
                    <a:pt x="1205727" y="16911"/>
                  </a:cubicBezTo>
                  <a:lnTo>
                    <a:pt x="1205727" y="136585"/>
                  </a:lnTo>
                  <a:cubicBezTo>
                    <a:pt x="1205727" y="141070"/>
                    <a:pt x="1203946" y="145372"/>
                    <a:pt x="1200774" y="148543"/>
                  </a:cubicBezTo>
                  <a:cubicBezTo>
                    <a:pt x="1197603" y="151714"/>
                    <a:pt x="1193301" y="153496"/>
                    <a:pt x="1188816" y="153496"/>
                  </a:cubicBezTo>
                  <a:lnTo>
                    <a:pt x="16911" y="153496"/>
                  </a:lnTo>
                  <a:cubicBezTo>
                    <a:pt x="12426" y="153496"/>
                    <a:pt x="8125" y="151714"/>
                    <a:pt x="4953" y="148543"/>
                  </a:cubicBezTo>
                  <a:cubicBezTo>
                    <a:pt x="1782" y="145372"/>
                    <a:pt x="0" y="141070"/>
                    <a:pt x="0" y="136585"/>
                  </a:cubicBezTo>
                  <a:lnTo>
                    <a:pt x="0" y="16911"/>
                  </a:lnTo>
                  <a:cubicBezTo>
                    <a:pt x="0" y="12426"/>
                    <a:pt x="1782" y="8125"/>
                    <a:pt x="4953" y="4953"/>
                  </a:cubicBezTo>
                  <a:cubicBezTo>
                    <a:pt x="8125" y="1782"/>
                    <a:pt x="12426" y="0"/>
                    <a:pt x="16911" y="0"/>
                  </a:cubicBezTo>
                  <a:close/>
                </a:path>
              </a:pathLst>
            </a:custGeom>
            <a:solidFill>
              <a:srgbClr val="D5BFE4"/>
            </a:solidFill>
            <a:ln w="19050" cap="sq">
              <a:solidFill>
                <a:srgbClr val="006E85"/>
              </a:solidFill>
              <a:prstDash val="solid"/>
              <a:miter/>
            </a:ln>
          </p:spPr>
        </p:sp>
        <p:sp>
          <p:nvSpPr>
            <p:cNvPr name="TextBox 21" id="21"/>
            <p:cNvSpPr txBox="true"/>
            <p:nvPr/>
          </p:nvSpPr>
          <p:spPr>
            <a:xfrm>
              <a:off x="0" y="-38100"/>
              <a:ext cx="1205727" cy="191596"/>
            </a:xfrm>
            <a:prstGeom prst="rect">
              <a:avLst/>
            </a:prstGeom>
          </p:spPr>
          <p:txBody>
            <a:bodyPr anchor="ctr" rtlCol="false" tIns="50800" lIns="50800" bIns="50800" rIns="50800"/>
            <a:lstStyle/>
            <a:p>
              <a:pPr algn="ctr">
                <a:lnSpc>
                  <a:spcPts val="2659"/>
                </a:lnSpc>
              </a:pPr>
            </a:p>
          </p:txBody>
        </p:sp>
      </p:grpSp>
      <p:grpSp>
        <p:nvGrpSpPr>
          <p:cNvPr name="Group 22" id="22"/>
          <p:cNvGrpSpPr/>
          <p:nvPr/>
        </p:nvGrpSpPr>
        <p:grpSpPr>
          <a:xfrm rot="0">
            <a:off x="16589279" y="4518138"/>
            <a:ext cx="869546" cy="302222"/>
            <a:chOff x="0" y="0"/>
            <a:chExt cx="229016" cy="79597"/>
          </a:xfrm>
        </p:grpSpPr>
        <p:sp>
          <p:nvSpPr>
            <p:cNvPr name="Freeform 23" id="23"/>
            <p:cNvSpPr/>
            <p:nvPr/>
          </p:nvSpPr>
          <p:spPr>
            <a:xfrm flipH="false" flipV="false" rot="0">
              <a:off x="0" y="0"/>
              <a:ext cx="229016" cy="79597"/>
            </a:xfrm>
            <a:custGeom>
              <a:avLst/>
              <a:gdLst/>
              <a:ahLst/>
              <a:cxnLst/>
              <a:rect r="r" b="b" t="t" l="l"/>
              <a:pathLst>
                <a:path h="79597" w="229016">
                  <a:moveTo>
                    <a:pt x="39799" y="0"/>
                  </a:moveTo>
                  <a:lnTo>
                    <a:pt x="189217" y="0"/>
                  </a:lnTo>
                  <a:cubicBezTo>
                    <a:pt x="211198" y="0"/>
                    <a:pt x="229016" y="17819"/>
                    <a:pt x="229016" y="39799"/>
                  </a:cubicBezTo>
                  <a:lnTo>
                    <a:pt x="229016" y="39799"/>
                  </a:lnTo>
                  <a:cubicBezTo>
                    <a:pt x="229016" y="50354"/>
                    <a:pt x="224823" y="60477"/>
                    <a:pt x="217359" y="67941"/>
                  </a:cubicBezTo>
                  <a:cubicBezTo>
                    <a:pt x="209896" y="75404"/>
                    <a:pt x="199773" y="79597"/>
                    <a:pt x="189217" y="79597"/>
                  </a:cubicBezTo>
                  <a:lnTo>
                    <a:pt x="39799" y="79597"/>
                  </a:lnTo>
                  <a:cubicBezTo>
                    <a:pt x="17819" y="79597"/>
                    <a:pt x="0" y="61779"/>
                    <a:pt x="0" y="39799"/>
                  </a:cubicBezTo>
                  <a:lnTo>
                    <a:pt x="0" y="39799"/>
                  </a:lnTo>
                  <a:cubicBezTo>
                    <a:pt x="0" y="17819"/>
                    <a:pt x="17819" y="0"/>
                    <a:pt x="39799" y="0"/>
                  </a:cubicBezTo>
                  <a:close/>
                </a:path>
              </a:pathLst>
            </a:custGeom>
            <a:solidFill>
              <a:srgbClr val="FFFFFF"/>
            </a:solidFill>
            <a:ln w="19050" cap="sq">
              <a:solidFill>
                <a:srgbClr val="006E85"/>
              </a:solidFill>
              <a:prstDash val="solid"/>
              <a:miter/>
            </a:ln>
          </p:spPr>
        </p:sp>
        <p:sp>
          <p:nvSpPr>
            <p:cNvPr name="TextBox 24" id="24"/>
            <p:cNvSpPr txBox="true"/>
            <p:nvPr/>
          </p:nvSpPr>
          <p:spPr>
            <a:xfrm>
              <a:off x="0" y="-38100"/>
              <a:ext cx="229016" cy="117697"/>
            </a:xfrm>
            <a:prstGeom prst="rect">
              <a:avLst/>
            </a:prstGeom>
          </p:spPr>
          <p:txBody>
            <a:bodyPr anchor="ctr" rtlCol="false" tIns="50800" lIns="50800" bIns="50800" rIns="50800"/>
            <a:lstStyle/>
            <a:p>
              <a:pPr algn="ctr">
                <a:lnSpc>
                  <a:spcPts val="2659"/>
                </a:lnSpc>
              </a:pPr>
            </a:p>
          </p:txBody>
        </p:sp>
      </p:grpSp>
      <p:grpSp>
        <p:nvGrpSpPr>
          <p:cNvPr name="Group 25" id="25"/>
          <p:cNvGrpSpPr/>
          <p:nvPr/>
        </p:nvGrpSpPr>
        <p:grpSpPr>
          <a:xfrm rot="0">
            <a:off x="13290093" y="4543006"/>
            <a:ext cx="277354" cy="277354"/>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3A4A4"/>
            </a:solidFill>
            <a:ln w="28575" cap="sq">
              <a:solidFill>
                <a:srgbClr val="313131"/>
              </a:solidFill>
              <a:prstDash val="solid"/>
              <a:miter/>
            </a:ln>
          </p:spPr>
        </p:sp>
        <p:sp>
          <p:nvSpPr>
            <p:cNvPr name="TextBox 27" id="2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8" id="28"/>
          <p:cNvGrpSpPr/>
          <p:nvPr/>
        </p:nvGrpSpPr>
        <p:grpSpPr>
          <a:xfrm rot="0">
            <a:off x="1213945" y="2761099"/>
            <a:ext cx="277354" cy="277354"/>
            <a:chOff x="0" y="0"/>
            <a:chExt cx="812800" cy="812800"/>
          </a:xfrm>
        </p:grpSpPr>
        <p:sp>
          <p:nvSpPr>
            <p:cNvPr name="Freeform 29" id="2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3A4A4"/>
            </a:solidFill>
            <a:ln w="28575" cap="sq">
              <a:solidFill>
                <a:srgbClr val="313131"/>
              </a:solidFill>
              <a:prstDash val="solid"/>
              <a:miter/>
            </a:ln>
          </p:spPr>
        </p:sp>
        <p:sp>
          <p:nvSpPr>
            <p:cNvPr name="TextBox 30" id="3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31" id="31"/>
          <p:cNvGrpSpPr/>
          <p:nvPr/>
        </p:nvGrpSpPr>
        <p:grpSpPr>
          <a:xfrm rot="0">
            <a:off x="13686584" y="4543006"/>
            <a:ext cx="277354" cy="277354"/>
            <a:chOff x="0" y="0"/>
            <a:chExt cx="812800" cy="812800"/>
          </a:xfrm>
        </p:grpSpPr>
        <p:sp>
          <p:nvSpPr>
            <p:cNvPr name="Freeform 32" id="3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E2DE"/>
            </a:solidFill>
            <a:ln w="28575" cap="sq">
              <a:solidFill>
                <a:srgbClr val="313131"/>
              </a:solidFill>
              <a:prstDash val="solid"/>
              <a:miter/>
            </a:ln>
          </p:spPr>
        </p:sp>
        <p:sp>
          <p:nvSpPr>
            <p:cNvPr name="TextBox 33" id="3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34" id="34"/>
          <p:cNvGrpSpPr/>
          <p:nvPr/>
        </p:nvGrpSpPr>
        <p:grpSpPr>
          <a:xfrm rot="0">
            <a:off x="1610437" y="2761099"/>
            <a:ext cx="277354" cy="277354"/>
            <a:chOff x="0" y="0"/>
            <a:chExt cx="812800" cy="812800"/>
          </a:xfrm>
        </p:grpSpPr>
        <p:sp>
          <p:nvSpPr>
            <p:cNvPr name="Freeform 35" id="3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E2DE"/>
            </a:solidFill>
            <a:ln w="28575" cap="sq">
              <a:solidFill>
                <a:srgbClr val="313131"/>
              </a:solidFill>
              <a:prstDash val="solid"/>
              <a:miter/>
            </a:ln>
          </p:spPr>
        </p:sp>
        <p:sp>
          <p:nvSpPr>
            <p:cNvPr name="TextBox 36" id="36"/>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37" id="37"/>
          <p:cNvGrpSpPr/>
          <p:nvPr/>
        </p:nvGrpSpPr>
        <p:grpSpPr>
          <a:xfrm rot="0">
            <a:off x="14083076" y="4543006"/>
            <a:ext cx="277354" cy="277354"/>
            <a:chOff x="0" y="0"/>
            <a:chExt cx="812800" cy="812800"/>
          </a:xfrm>
        </p:grpSpPr>
        <p:sp>
          <p:nvSpPr>
            <p:cNvPr name="Freeform 38" id="3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FCDFF"/>
            </a:solidFill>
            <a:ln w="28575" cap="sq">
              <a:solidFill>
                <a:srgbClr val="313131"/>
              </a:solidFill>
              <a:prstDash val="solid"/>
              <a:miter/>
            </a:ln>
          </p:spPr>
        </p:sp>
        <p:sp>
          <p:nvSpPr>
            <p:cNvPr name="TextBox 39" id="39"/>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40" id="40"/>
          <p:cNvGrpSpPr/>
          <p:nvPr/>
        </p:nvGrpSpPr>
        <p:grpSpPr>
          <a:xfrm rot="0">
            <a:off x="2006928" y="2761099"/>
            <a:ext cx="277354" cy="277354"/>
            <a:chOff x="0" y="0"/>
            <a:chExt cx="812800" cy="812800"/>
          </a:xfrm>
        </p:grpSpPr>
        <p:sp>
          <p:nvSpPr>
            <p:cNvPr name="Freeform 41" id="4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FCDFF"/>
            </a:solidFill>
            <a:ln w="28575" cap="sq">
              <a:solidFill>
                <a:srgbClr val="313131"/>
              </a:solidFill>
              <a:prstDash val="solid"/>
              <a:miter/>
            </a:ln>
          </p:spPr>
        </p:sp>
        <p:sp>
          <p:nvSpPr>
            <p:cNvPr name="TextBox 42" id="42"/>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43" id="43"/>
          <p:cNvSpPr/>
          <p:nvPr/>
        </p:nvSpPr>
        <p:spPr>
          <a:xfrm flipH="false" flipV="false" rot="719075">
            <a:off x="12112231" y="8778230"/>
            <a:ext cx="596943" cy="955109"/>
          </a:xfrm>
          <a:custGeom>
            <a:avLst/>
            <a:gdLst/>
            <a:ahLst/>
            <a:cxnLst/>
            <a:rect r="r" b="b" t="t" l="l"/>
            <a:pathLst>
              <a:path h="955109" w="596943">
                <a:moveTo>
                  <a:pt x="0" y="0"/>
                </a:moveTo>
                <a:lnTo>
                  <a:pt x="596943" y="0"/>
                </a:lnTo>
                <a:lnTo>
                  <a:pt x="596943" y="955109"/>
                </a:lnTo>
                <a:lnTo>
                  <a:pt x="0" y="95510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4" id="44"/>
          <p:cNvSpPr/>
          <p:nvPr/>
        </p:nvSpPr>
        <p:spPr>
          <a:xfrm flipH="false" flipV="false" rot="-1577718">
            <a:off x="16400388" y="7338253"/>
            <a:ext cx="700244" cy="940327"/>
          </a:xfrm>
          <a:custGeom>
            <a:avLst/>
            <a:gdLst/>
            <a:ahLst/>
            <a:cxnLst/>
            <a:rect r="r" b="b" t="t" l="l"/>
            <a:pathLst>
              <a:path h="940327" w="700244">
                <a:moveTo>
                  <a:pt x="0" y="0"/>
                </a:moveTo>
                <a:lnTo>
                  <a:pt x="700244" y="0"/>
                </a:lnTo>
                <a:lnTo>
                  <a:pt x="700244" y="940327"/>
                </a:lnTo>
                <a:lnTo>
                  <a:pt x="0" y="94032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45" id="45"/>
          <p:cNvGrpSpPr/>
          <p:nvPr/>
        </p:nvGrpSpPr>
        <p:grpSpPr>
          <a:xfrm rot="-196716">
            <a:off x="14838671" y="623670"/>
            <a:ext cx="618045" cy="618045"/>
            <a:chOff x="0" y="0"/>
            <a:chExt cx="812800" cy="812800"/>
          </a:xfrm>
        </p:grpSpPr>
        <p:sp>
          <p:nvSpPr>
            <p:cNvPr name="Freeform 46" id="46"/>
            <p:cNvSpPr/>
            <p:nvPr/>
          </p:nvSpPr>
          <p:spPr>
            <a:xfrm flipH="false" flipV="false" rot="0">
              <a:off x="47864" y="47864"/>
              <a:ext cx="717071" cy="717071"/>
            </a:xfrm>
            <a:custGeom>
              <a:avLst/>
              <a:gdLst/>
              <a:ahLst/>
              <a:cxnLst/>
              <a:rect r="r" b="b" t="t" l="l"/>
              <a:pathLst>
                <a:path h="717071" w="717071">
                  <a:moveTo>
                    <a:pt x="390321" y="20243"/>
                  </a:moveTo>
                  <a:lnTo>
                    <a:pt x="456066" y="161114"/>
                  </a:lnTo>
                  <a:cubicBezTo>
                    <a:pt x="476599" y="205109"/>
                    <a:pt x="511962" y="240473"/>
                    <a:pt x="555958" y="261006"/>
                  </a:cubicBezTo>
                  <a:lnTo>
                    <a:pt x="696829" y="326751"/>
                  </a:lnTo>
                  <a:cubicBezTo>
                    <a:pt x="709178" y="332514"/>
                    <a:pt x="717072" y="344908"/>
                    <a:pt x="717072" y="358536"/>
                  </a:cubicBezTo>
                  <a:cubicBezTo>
                    <a:pt x="717072" y="372164"/>
                    <a:pt x="709178" y="384558"/>
                    <a:pt x="696829" y="390321"/>
                  </a:cubicBezTo>
                  <a:lnTo>
                    <a:pt x="555958" y="456066"/>
                  </a:lnTo>
                  <a:cubicBezTo>
                    <a:pt x="511962" y="476599"/>
                    <a:pt x="476599" y="511962"/>
                    <a:pt x="456066" y="555958"/>
                  </a:cubicBezTo>
                  <a:lnTo>
                    <a:pt x="390321" y="696829"/>
                  </a:lnTo>
                  <a:cubicBezTo>
                    <a:pt x="384558" y="709178"/>
                    <a:pt x="372164" y="717072"/>
                    <a:pt x="358536" y="717072"/>
                  </a:cubicBezTo>
                  <a:cubicBezTo>
                    <a:pt x="344908" y="717072"/>
                    <a:pt x="332514" y="709178"/>
                    <a:pt x="326751" y="696829"/>
                  </a:cubicBezTo>
                  <a:lnTo>
                    <a:pt x="261006" y="555958"/>
                  </a:lnTo>
                  <a:cubicBezTo>
                    <a:pt x="240473" y="511962"/>
                    <a:pt x="205109" y="476599"/>
                    <a:pt x="161114" y="456066"/>
                  </a:cubicBezTo>
                  <a:lnTo>
                    <a:pt x="20243" y="390321"/>
                  </a:lnTo>
                  <a:cubicBezTo>
                    <a:pt x="7894" y="384558"/>
                    <a:pt x="0" y="372164"/>
                    <a:pt x="0" y="358536"/>
                  </a:cubicBezTo>
                  <a:cubicBezTo>
                    <a:pt x="0" y="344908"/>
                    <a:pt x="7894" y="332514"/>
                    <a:pt x="20243" y="326751"/>
                  </a:cubicBezTo>
                  <a:lnTo>
                    <a:pt x="161114" y="261006"/>
                  </a:lnTo>
                  <a:cubicBezTo>
                    <a:pt x="205109" y="240473"/>
                    <a:pt x="240473" y="205109"/>
                    <a:pt x="261006" y="161114"/>
                  </a:cubicBezTo>
                  <a:lnTo>
                    <a:pt x="326751" y="20243"/>
                  </a:lnTo>
                  <a:cubicBezTo>
                    <a:pt x="332514" y="7894"/>
                    <a:pt x="344908" y="0"/>
                    <a:pt x="358536" y="0"/>
                  </a:cubicBezTo>
                  <a:cubicBezTo>
                    <a:pt x="372164" y="0"/>
                    <a:pt x="384558" y="7894"/>
                    <a:pt x="390321" y="20243"/>
                  </a:cubicBezTo>
                  <a:close/>
                </a:path>
              </a:pathLst>
            </a:custGeom>
            <a:solidFill>
              <a:srgbClr val="FFEBB5"/>
            </a:solidFill>
            <a:ln w="19050" cap="sq">
              <a:solidFill>
                <a:srgbClr val="313131"/>
              </a:solidFill>
              <a:prstDash val="solid"/>
              <a:miter/>
            </a:ln>
          </p:spPr>
        </p:sp>
        <p:sp>
          <p:nvSpPr>
            <p:cNvPr name="TextBox 47" id="47"/>
            <p:cNvSpPr txBox="true"/>
            <p:nvPr/>
          </p:nvSpPr>
          <p:spPr>
            <a:xfrm>
              <a:off x="190500" y="152400"/>
              <a:ext cx="431800" cy="469900"/>
            </a:xfrm>
            <a:prstGeom prst="rect">
              <a:avLst/>
            </a:prstGeom>
          </p:spPr>
          <p:txBody>
            <a:bodyPr anchor="ctr" rtlCol="false" tIns="50800" lIns="50800" bIns="50800" rIns="50800"/>
            <a:lstStyle/>
            <a:p>
              <a:pPr algn="ctr">
                <a:lnSpc>
                  <a:spcPts val="2659"/>
                </a:lnSpc>
              </a:pPr>
            </a:p>
          </p:txBody>
        </p:sp>
      </p:grpSp>
      <p:grpSp>
        <p:nvGrpSpPr>
          <p:cNvPr name="Group 48" id="48"/>
          <p:cNvGrpSpPr/>
          <p:nvPr/>
        </p:nvGrpSpPr>
        <p:grpSpPr>
          <a:xfrm rot="767333">
            <a:off x="395179" y="7200999"/>
            <a:ext cx="456307" cy="456307"/>
            <a:chOff x="0" y="0"/>
            <a:chExt cx="812800" cy="812800"/>
          </a:xfrm>
        </p:grpSpPr>
        <p:sp>
          <p:nvSpPr>
            <p:cNvPr name="Freeform 49" id="49"/>
            <p:cNvSpPr/>
            <p:nvPr/>
          </p:nvSpPr>
          <p:spPr>
            <a:xfrm flipH="false" flipV="false" rot="0">
              <a:off x="64830" y="64830"/>
              <a:ext cx="683140" cy="683140"/>
            </a:xfrm>
            <a:custGeom>
              <a:avLst/>
              <a:gdLst/>
              <a:ahLst/>
              <a:cxnLst/>
              <a:rect r="r" b="b" t="t" l="l"/>
              <a:pathLst>
                <a:path h="683140" w="683140">
                  <a:moveTo>
                    <a:pt x="384622" y="27417"/>
                  </a:moveTo>
                  <a:lnTo>
                    <a:pt x="427833" y="120008"/>
                  </a:lnTo>
                  <a:cubicBezTo>
                    <a:pt x="455644" y="179597"/>
                    <a:pt x="503543" y="227496"/>
                    <a:pt x="563132" y="255306"/>
                  </a:cubicBezTo>
                  <a:lnTo>
                    <a:pt x="655723" y="298518"/>
                  </a:lnTo>
                  <a:cubicBezTo>
                    <a:pt x="672449" y="306324"/>
                    <a:pt x="683140" y="323112"/>
                    <a:pt x="683140" y="341570"/>
                  </a:cubicBezTo>
                  <a:cubicBezTo>
                    <a:pt x="683140" y="360028"/>
                    <a:pt x="672449" y="376816"/>
                    <a:pt x="655723" y="384622"/>
                  </a:cubicBezTo>
                  <a:lnTo>
                    <a:pt x="563132" y="427833"/>
                  </a:lnTo>
                  <a:cubicBezTo>
                    <a:pt x="503543" y="455644"/>
                    <a:pt x="455644" y="503543"/>
                    <a:pt x="427833" y="563132"/>
                  </a:cubicBezTo>
                  <a:lnTo>
                    <a:pt x="384622" y="655723"/>
                  </a:lnTo>
                  <a:cubicBezTo>
                    <a:pt x="376816" y="672449"/>
                    <a:pt x="360028" y="683140"/>
                    <a:pt x="341570" y="683140"/>
                  </a:cubicBezTo>
                  <a:cubicBezTo>
                    <a:pt x="323112" y="683140"/>
                    <a:pt x="306324" y="672449"/>
                    <a:pt x="298518" y="655723"/>
                  </a:cubicBezTo>
                  <a:lnTo>
                    <a:pt x="255306" y="563132"/>
                  </a:lnTo>
                  <a:cubicBezTo>
                    <a:pt x="227496" y="503543"/>
                    <a:pt x="179597" y="455644"/>
                    <a:pt x="120008" y="427833"/>
                  </a:cubicBezTo>
                  <a:lnTo>
                    <a:pt x="27417" y="384622"/>
                  </a:lnTo>
                  <a:cubicBezTo>
                    <a:pt x="10691" y="376816"/>
                    <a:pt x="0" y="360028"/>
                    <a:pt x="0" y="341570"/>
                  </a:cubicBezTo>
                  <a:cubicBezTo>
                    <a:pt x="0" y="323112"/>
                    <a:pt x="10691" y="306324"/>
                    <a:pt x="27417" y="298518"/>
                  </a:cubicBezTo>
                  <a:lnTo>
                    <a:pt x="120008" y="255306"/>
                  </a:lnTo>
                  <a:cubicBezTo>
                    <a:pt x="179597" y="227496"/>
                    <a:pt x="227496" y="179597"/>
                    <a:pt x="255306" y="120008"/>
                  </a:cubicBezTo>
                  <a:lnTo>
                    <a:pt x="298518" y="27417"/>
                  </a:lnTo>
                  <a:cubicBezTo>
                    <a:pt x="306324" y="10691"/>
                    <a:pt x="323112" y="0"/>
                    <a:pt x="341570" y="0"/>
                  </a:cubicBezTo>
                  <a:cubicBezTo>
                    <a:pt x="360028" y="0"/>
                    <a:pt x="376816" y="10691"/>
                    <a:pt x="384622" y="27417"/>
                  </a:cubicBezTo>
                  <a:close/>
                </a:path>
              </a:pathLst>
            </a:custGeom>
            <a:solidFill>
              <a:srgbClr val="FFEBB5"/>
            </a:solidFill>
            <a:ln w="19050" cap="sq">
              <a:solidFill>
                <a:srgbClr val="313131"/>
              </a:solidFill>
              <a:prstDash val="solid"/>
              <a:miter/>
            </a:ln>
          </p:spPr>
        </p:sp>
        <p:sp>
          <p:nvSpPr>
            <p:cNvPr name="TextBox 50" id="50"/>
            <p:cNvSpPr txBox="true"/>
            <p:nvPr/>
          </p:nvSpPr>
          <p:spPr>
            <a:xfrm>
              <a:off x="190500" y="152400"/>
              <a:ext cx="431800" cy="469900"/>
            </a:xfrm>
            <a:prstGeom prst="rect">
              <a:avLst/>
            </a:prstGeom>
          </p:spPr>
          <p:txBody>
            <a:bodyPr anchor="ctr" rtlCol="false" tIns="50800" lIns="50800" bIns="50800" rIns="50800"/>
            <a:lstStyle/>
            <a:p>
              <a:pPr algn="ctr">
                <a:lnSpc>
                  <a:spcPts val="2659"/>
                </a:lnSpc>
              </a:pPr>
            </a:p>
          </p:txBody>
        </p:sp>
      </p:grpSp>
      <p:sp>
        <p:nvSpPr>
          <p:cNvPr name="TextBox 51" id="51"/>
          <p:cNvSpPr txBox="true"/>
          <p:nvPr/>
        </p:nvSpPr>
        <p:spPr>
          <a:xfrm rot="0">
            <a:off x="8191431" y="3743674"/>
            <a:ext cx="4219271" cy="534835"/>
          </a:xfrm>
          <a:prstGeom prst="rect">
            <a:avLst/>
          </a:prstGeom>
        </p:spPr>
        <p:txBody>
          <a:bodyPr anchor="t" rtlCol="false" tIns="0" lIns="0" bIns="0" rIns="0">
            <a:spAutoFit/>
          </a:bodyPr>
          <a:lstStyle/>
          <a:p>
            <a:pPr algn="l">
              <a:lnSpc>
                <a:spcPts val="4046"/>
              </a:lnSpc>
            </a:pPr>
            <a:r>
              <a:rPr lang="en-US" b="true" sz="4006">
                <a:solidFill>
                  <a:srgbClr val="313131"/>
                </a:solidFill>
                <a:latin typeface="Inter Bold"/>
                <a:ea typeface="Inter Bold"/>
                <a:cs typeface="Inter Bold"/>
                <a:sym typeface="Inter Bold"/>
              </a:rPr>
              <a:t>DATA HASIL</a:t>
            </a:r>
          </a:p>
        </p:txBody>
      </p:sp>
      <p:grpSp>
        <p:nvGrpSpPr>
          <p:cNvPr name="Group 52" id="52"/>
          <p:cNvGrpSpPr/>
          <p:nvPr/>
        </p:nvGrpSpPr>
        <p:grpSpPr>
          <a:xfrm rot="-196716">
            <a:off x="12797538" y="3342541"/>
            <a:ext cx="618045" cy="618045"/>
            <a:chOff x="0" y="0"/>
            <a:chExt cx="812800" cy="812800"/>
          </a:xfrm>
        </p:grpSpPr>
        <p:sp>
          <p:nvSpPr>
            <p:cNvPr name="Freeform 53" id="53"/>
            <p:cNvSpPr/>
            <p:nvPr/>
          </p:nvSpPr>
          <p:spPr>
            <a:xfrm flipH="false" flipV="false" rot="0">
              <a:off x="47864" y="47864"/>
              <a:ext cx="717071" cy="717071"/>
            </a:xfrm>
            <a:custGeom>
              <a:avLst/>
              <a:gdLst/>
              <a:ahLst/>
              <a:cxnLst/>
              <a:rect r="r" b="b" t="t" l="l"/>
              <a:pathLst>
                <a:path h="717071" w="717071">
                  <a:moveTo>
                    <a:pt x="390321" y="20243"/>
                  </a:moveTo>
                  <a:lnTo>
                    <a:pt x="456066" y="161114"/>
                  </a:lnTo>
                  <a:cubicBezTo>
                    <a:pt x="476599" y="205109"/>
                    <a:pt x="511962" y="240473"/>
                    <a:pt x="555958" y="261006"/>
                  </a:cubicBezTo>
                  <a:lnTo>
                    <a:pt x="696829" y="326751"/>
                  </a:lnTo>
                  <a:cubicBezTo>
                    <a:pt x="709178" y="332514"/>
                    <a:pt x="717072" y="344908"/>
                    <a:pt x="717072" y="358536"/>
                  </a:cubicBezTo>
                  <a:cubicBezTo>
                    <a:pt x="717072" y="372164"/>
                    <a:pt x="709178" y="384558"/>
                    <a:pt x="696829" y="390321"/>
                  </a:cubicBezTo>
                  <a:lnTo>
                    <a:pt x="555958" y="456066"/>
                  </a:lnTo>
                  <a:cubicBezTo>
                    <a:pt x="511962" y="476599"/>
                    <a:pt x="476599" y="511962"/>
                    <a:pt x="456066" y="555958"/>
                  </a:cubicBezTo>
                  <a:lnTo>
                    <a:pt x="390321" y="696829"/>
                  </a:lnTo>
                  <a:cubicBezTo>
                    <a:pt x="384558" y="709178"/>
                    <a:pt x="372164" y="717072"/>
                    <a:pt x="358536" y="717072"/>
                  </a:cubicBezTo>
                  <a:cubicBezTo>
                    <a:pt x="344908" y="717072"/>
                    <a:pt x="332514" y="709178"/>
                    <a:pt x="326751" y="696829"/>
                  </a:cubicBezTo>
                  <a:lnTo>
                    <a:pt x="261006" y="555958"/>
                  </a:lnTo>
                  <a:cubicBezTo>
                    <a:pt x="240473" y="511962"/>
                    <a:pt x="205109" y="476599"/>
                    <a:pt x="161114" y="456066"/>
                  </a:cubicBezTo>
                  <a:lnTo>
                    <a:pt x="20243" y="390321"/>
                  </a:lnTo>
                  <a:cubicBezTo>
                    <a:pt x="7894" y="384558"/>
                    <a:pt x="0" y="372164"/>
                    <a:pt x="0" y="358536"/>
                  </a:cubicBezTo>
                  <a:cubicBezTo>
                    <a:pt x="0" y="344908"/>
                    <a:pt x="7894" y="332514"/>
                    <a:pt x="20243" y="326751"/>
                  </a:cubicBezTo>
                  <a:lnTo>
                    <a:pt x="161114" y="261006"/>
                  </a:lnTo>
                  <a:cubicBezTo>
                    <a:pt x="205109" y="240473"/>
                    <a:pt x="240473" y="205109"/>
                    <a:pt x="261006" y="161114"/>
                  </a:cubicBezTo>
                  <a:lnTo>
                    <a:pt x="326751" y="20243"/>
                  </a:lnTo>
                  <a:cubicBezTo>
                    <a:pt x="332514" y="7894"/>
                    <a:pt x="344908" y="0"/>
                    <a:pt x="358536" y="0"/>
                  </a:cubicBezTo>
                  <a:cubicBezTo>
                    <a:pt x="372164" y="0"/>
                    <a:pt x="384558" y="7894"/>
                    <a:pt x="390321" y="20243"/>
                  </a:cubicBezTo>
                  <a:close/>
                </a:path>
              </a:pathLst>
            </a:custGeom>
            <a:solidFill>
              <a:srgbClr val="FFEBB5"/>
            </a:solidFill>
            <a:ln w="19050" cap="sq">
              <a:solidFill>
                <a:srgbClr val="313131"/>
              </a:solidFill>
              <a:prstDash val="solid"/>
              <a:miter/>
            </a:ln>
          </p:spPr>
        </p:sp>
        <p:sp>
          <p:nvSpPr>
            <p:cNvPr name="TextBox 54" id="54"/>
            <p:cNvSpPr txBox="true"/>
            <p:nvPr/>
          </p:nvSpPr>
          <p:spPr>
            <a:xfrm>
              <a:off x="190500" y="152400"/>
              <a:ext cx="431800" cy="469900"/>
            </a:xfrm>
            <a:prstGeom prst="rect">
              <a:avLst/>
            </a:prstGeom>
          </p:spPr>
          <p:txBody>
            <a:bodyPr anchor="ctr" rtlCol="false" tIns="50800" lIns="50800" bIns="50800" rIns="50800"/>
            <a:lstStyle/>
            <a:p>
              <a:pPr algn="ctr">
                <a:lnSpc>
                  <a:spcPts val="2659"/>
                </a:lnSpc>
              </a:pPr>
            </a:p>
          </p:txBody>
        </p:sp>
      </p:grpSp>
      <p:grpSp>
        <p:nvGrpSpPr>
          <p:cNvPr name="Group 55" id="55"/>
          <p:cNvGrpSpPr/>
          <p:nvPr/>
        </p:nvGrpSpPr>
        <p:grpSpPr>
          <a:xfrm rot="0">
            <a:off x="886805" y="1678758"/>
            <a:ext cx="6774776" cy="411477"/>
            <a:chOff x="0" y="0"/>
            <a:chExt cx="1784303" cy="108372"/>
          </a:xfrm>
        </p:grpSpPr>
        <p:sp>
          <p:nvSpPr>
            <p:cNvPr name="Freeform 56" id="56"/>
            <p:cNvSpPr/>
            <p:nvPr/>
          </p:nvSpPr>
          <p:spPr>
            <a:xfrm flipH="false" flipV="false" rot="0">
              <a:off x="0" y="0"/>
              <a:ext cx="1784303" cy="108372"/>
            </a:xfrm>
            <a:custGeom>
              <a:avLst/>
              <a:gdLst/>
              <a:ahLst/>
              <a:cxnLst/>
              <a:rect r="r" b="b" t="t" l="l"/>
              <a:pathLst>
                <a:path h="108372" w="1784303">
                  <a:moveTo>
                    <a:pt x="0" y="0"/>
                  </a:moveTo>
                  <a:lnTo>
                    <a:pt x="1784303" y="0"/>
                  </a:lnTo>
                  <a:lnTo>
                    <a:pt x="1784303" y="108372"/>
                  </a:lnTo>
                  <a:lnTo>
                    <a:pt x="0" y="108372"/>
                  </a:lnTo>
                  <a:close/>
                </a:path>
              </a:pathLst>
            </a:custGeom>
            <a:solidFill>
              <a:srgbClr val="A8DED6"/>
            </a:solidFill>
            <a:ln cap="sq">
              <a:noFill/>
              <a:prstDash val="solid"/>
              <a:miter/>
            </a:ln>
          </p:spPr>
        </p:sp>
        <p:sp>
          <p:nvSpPr>
            <p:cNvPr name="TextBox 57" id="57"/>
            <p:cNvSpPr txBox="true"/>
            <p:nvPr/>
          </p:nvSpPr>
          <p:spPr>
            <a:xfrm>
              <a:off x="0" y="-38100"/>
              <a:ext cx="1784303" cy="146472"/>
            </a:xfrm>
            <a:prstGeom prst="rect">
              <a:avLst/>
            </a:prstGeom>
          </p:spPr>
          <p:txBody>
            <a:bodyPr anchor="ctr" rtlCol="false" tIns="50800" lIns="50800" bIns="50800" rIns="50800"/>
            <a:lstStyle/>
            <a:p>
              <a:pPr algn="ctr">
                <a:lnSpc>
                  <a:spcPts val="2659"/>
                </a:lnSpc>
              </a:pPr>
            </a:p>
          </p:txBody>
        </p:sp>
      </p:grpSp>
      <p:sp>
        <p:nvSpPr>
          <p:cNvPr name="TextBox 58" id="58"/>
          <p:cNvSpPr txBox="true"/>
          <p:nvPr/>
        </p:nvSpPr>
        <p:spPr>
          <a:xfrm rot="0">
            <a:off x="896330" y="1304777"/>
            <a:ext cx="6765251" cy="748055"/>
          </a:xfrm>
          <a:prstGeom prst="rect">
            <a:avLst/>
          </a:prstGeom>
        </p:spPr>
        <p:txBody>
          <a:bodyPr anchor="t" rtlCol="false" tIns="0" lIns="0" bIns="0" rIns="0">
            <a:spAutoFit/>
          </a:bodyPr>
          <a:lstStyle/>
          <a:p>
            <a:pPr algn="ctr">
              <a:lnSpc>
                <a:spcPts val="4995"/>
              </a:lnSpc>
            </a:pPr>
            <a:r>
              <a:rPr lang="en-US" sz="4945">
                <a:solidFill>
                  <a:srgbClr val="000000"/>
                </a:solidFill>
                <a:latin typeface="Chunk Five"/>
                <a:ea typeface="Chunk Five"/>
                <a:cs typeface="Chunk Five"/>
                <a:sym typeface="Chunk Five"/>
              </a:rPr>
              <a:t>THE CHALLENGE</a:t>
            </a:r>
          </a:p>
        </p:txBody>
      </p:sp>
      <p:sp>
        <p:nvSpPr>
          <p:cNvPr name="TextBox 59" id="59"/>
          <p:cNvSpPr txBox="true"/>
          <p:nvPr/>
        </p:nvSpPr>
        <p:spPr>
          <a:xfrm rot="0">
            <a:off x="7213593" y="4352458"/>
            <a:ext cx="5197109" cy="4569154"/>
          </a:xfrm>
          <a:prstGeom prst="rect">
            <a:avLst/>
          </a:prstGeom>
        </p:spPr>
        <p:txBody>
          <a:bodyPr anchor="t" rtlCol="false" tIns="0" lIns="0" bIns="0" rIns="0">
            <a:spAutoFit/>
          </a:bodyPr>
          <a:lstStyle/>
          <a:p>
            <a:pPr algn="just">
              <a:lnSpc>
                <a:spcPts val="2256"/>
              </a:lnSpc>
            </a:pPr>
            <a:r>
              <a:rPr lang="en-US" sz="1612">
                <a:solidFill>
                  <a:srgbClr val="000000"/>
                </a:solidFill>
                <a:latin typeface="Inter"/>
                <a:ea typeface="Inter"/>
                <a:cs typeface="Inter"/>
                <a:sym typeface="Inter"/>
              </a:rPr>
              <a:t>Berdasarkan analisis data, saya menemukan fakta menarik:</a:t>
            </a:r>
          </a:p>
          <a:p>
            <a:pPr algn="just" marL="348045" indent="-174022" lvl="1">
              <a:lnSpc>
                <a:spcPts val="2256"/>
              </a:lnSpc>
              <a:buAutoNum type="arabicPeriod" startAt="1"/>
            </a:pPr>
            <a:r>
              <a:rPr lang="en-US" sz="1612">
                <a:solidFill>
                  <a:srgbClr val="000000"/>
                </a:solidFill>
                <a:latin typeface="Inter"/>
                <a:ea typeface="Inter"/>
                <a:cs typeface="Inter"/>
                <a:sym typeface="Inter"/>
              </a:rPr>
              <a:t>Lower Manhattan adalah "Rumah Sultan": Lokasi ini memiliki persentase pelanggan High Value tertinggi (31.1%), dibandingkan Hell's Kitchen dan Astoria.</a:t>
            </a:r>
          </a:p>
          <a:p>
            <a:pPr algn="just" marL="696090" indent="-232030" lvl="2">
              <a:lnSpc>
                <a:spcPts val="2256"/>
              </a:lnSpc>
              <a:buFont typeface="Arial"/>
              <a:buChar char="⚬"/>
            </a:pPr>
            <a:r>
              <a:rPr lang="en-US" sz="1612">
                <a:solidFill>
                  <a:srgbClr val="000000"/>
                </a:solidFill>
                <a:latin typeface="Inter"/>
                <a:ea typeface="Inter"/>
                <a:cs typeface="Inter"/>
                <a:sym typeface="Inter"/>
              </a:rPr>
              <a:t>Insight: Meskipun Total Sales-nya paling rendah, kualitas pelanggannya paling tinggi. Mereka lebih sering membeli bundle atau item mahal.</a:t>
            </a:r>
          </a:p>
          <a:p>
            <a:pPr algn="just" marL="348045" indent="-174022" lvl="1">
              <a:lnSpc>
                <a:spcPts val="2256"/>
              </a:lnSpc>
              <a:buAutoNum type="arabicPeriod" startAt="1"/>
            </a:pPr>
            <a:r>
              <a:rPr lang="en-US" sz="1612">
                <a:solidFill>
                  <a:srgbClr val="000000"/>
                </a:solidFill>
                <a:latin typeface="Inter"/>
                <a:ea typeface="Inter"/>
                <a:cs typeface="Inter"/>
                <a:sym typeface="Inter"/>
              </a:rPr>
              <a:t>Preferensi Kategori Seragam: Uniknya, preferensi produk (Kopi vs Teh) relatif sama di semua lokasi (Kopi ~38%, Teh ~28%). Tidak ada perbedaan selera yang mencolok antar wilayah.</a:t>
            </a:r>
          </a:p>
          <a:p>
            <a:pPr algn="just">
              <a:lnSpc>
                <a:spcPts val="2256"/>
              </a:lnSpc>
            </a:pPr>
          </a:p>
          <a:p>
            <a:pPr algn="just" marL="0" indent="0" lvl="0">
              <a:lnSpc>
                <a:spcPts val="2256"/>
              </a:lnSpc>
              <a:spcBef>
                <a:spcPct val="0"/>
              </a:spcBef>
            </a:pPr>
          </a:p>
        </p:txBody>
      </p:sp>
      <p:sp>
        <p:nvSpPr>
          <p:cNvPr name="TextBox 60" id="60"/>
          <p:cNvSpPr txBox="true"/>
          <p:nvPr/>
        </p:nvSpPr>
        <p:spPr>
          <a:xfrm rot="0">
            <a:off x="13727290" y="5095875"/>
            <a:ext cx="4271087" cy="422275"/>
          </a:xfrm>
          <a:prstGeom prst="rect">
            <a:avLst/>
          </a:prstGeom>
        </p:spPr>
        <p:txBody>
          <a:bodyPr anchor="t" rtlCol="false" tIns="0" lIns="0" bIns="0" rIns="0">
            <a:spAutoFit/>
          </a:bodyPr>
          <a:lstStyle/>
          <a:p>
            <a:pPr algn="l" marL="0" indent="0" lvl="0">
              <a:lnSpc>
                <a:spcPts val="3499"/>
              </a:lnSpc>
              <a:spcBef>
                <a:spcPct val="0"/>
              </a:spcBef>
            </a:pPr>
            <a:r>
              <a:rPr lang="en-US" b="true" sz="2499">
                <a:solidFill>
                  <a:srgbClr val="000000"/>
                </a:solidFill>
                <a:latin typeface="Inter Bold"/>
                <a:ea typeface="Inter Bold"/>
                <a:cs typeface="Inter Bold"/>
                <a:sym typeface="Inter Bold"/>
              </a:rPr>
              <a:t>Penjelasan Hasil Riset</a:t>
            </a:r>
          </a:p>
        </p:txBody>
      </p:sp>
      <p:sp>
        <p:nvSpPr>
          <p:cNvPr name="TextBox 61" id="61"/>
          <p:cNvSpPr txBox="true"/>
          <p:nvPr/>
        </p:nvSpPr>
        <p:spPr>
          <a:xfrm rot="0">
            <a:off x="13825261" y="5614466"/>
            <a:ext cx="3493189" cy="1814686"/>
          </a:xfrm>
          <a:prstGeom prst="rect">
            <a:avLst/>
          </a:prstGeom>
        </p:spPr>
        <p:txBody>
          <a:bodyPr anchor="t" rtlCol="false" tIns="0" lIns="0" bIns="0" rIns="0">
            <a:spAutoFit/>
          </a:bodyPr>
          <a:lstStyle/>
          <a:p>
            <a:pPr algn="ctr">
              <a:lnSpc>
                <a:spcPts val="1617"/>
              </a:lnSpc>
              <a:spcBef>
                <a:spcPct val="0"/>
              </a:spcBef>
            </a:pPr>
            <a:r>
              <a:rPr lang="en-US" sz="1155">
                <a:solidFill>
                  <a:srgbClr val="000000"/>
                </a:solidFill>
                <a:latin typeface="Open Sans"/>
                <a:ea typeface="Open Sans"/>
                <a:cs typeface="Open Sans"/>
                <a:sym typeface="Open Sans"/>
              </a:rPr>
              <a:t>O</a:t>
            </a:r>
            <a:r>
              <a:rPr lang="en-US" sz="1155">
                <a:solidFill>
                  <a:srgbClr val="000000"/>
                </a:solidFill>
                <a:latin typeface="Open Sans"/>
                <a:ea typeface="Open Sans"/>
                <a:cs typeface="Open Sans"/>
                <a:sym typeface="Open Sans"/>
              </a:rPr>
              <a:t>leh karena itu, Grafik Stacked Bar di bawah ini adalah pilihan terbaik untuk Slide 4. Grafik ini menjawab pertanyaan "Siapa pelanggan setia kita?" dengan menunjuk ke pelanggan di Lower Manhattan sebagai segmen paling premium.</a:t>
            </a:r>
          </a:p>
          <a:p>
            <a:pPr algn="ctr">
              <a:lnSpc>
                <a:spcPts val="1617"/>
              </a:lnSpc>
              <a:spcBef>
                <a:spcPct val="0"/>
              </a:spcBef>
            </a:pPr>
            <a:r>
              <a:rPr lang="en-US" sz="1155">
                <a:solidFill>
                  <a:srgbClr val="000000"/>
                </a:solidFill>
                <a:latin typeface="Open Sans"/>
                <a:ea typeface="Open Sans"/>
                <a:cs typeface="Open Sans"/>
                <a:sym typeface="Open Sans"/>
              </a:rPr>
              <a:t>(Silakan simpan/copy gambar grafik di bawah ini untuk Slide 4)Grafik ini menunjukkan perbandingan proporsi "High Value Customers" antar lokasi.</a:t>
            </a:r>
          </a:p>
        </p:txBody>
      </p:sp>
      <p:pic>
        <p:nvPicPr>
          <p:cNvPr name="Picture 62" id="62"/>
          <p:cNvPicPr>
            <a:picLocks noChangeAspect="true"/>
          </p:cNvPicPr>
          <p:nvPr/>
        </p:nvPicPr>
        <p:blipFill>
          <a:blip r:embed="rId9"/>
          <a:stretch>
            <a:fillRect/>
          </a:stretch>
        </p:blipFill>
        <p:spPr>
          <a:xfrm rot="0">
            <a:off x="1350507" y="2851916"/>
            <a:ext cx="6141686" cy="6429299"/>
          </a:xfrm>
          <a:prstGeom prst="rect">
            <a:avLst/>
          </a:prstGeom>
        </p:spPr>
      </p:pic>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4871016" y="1531352"/>
            <a:ext cx="7315200" cy="2500468"/>
          </a:xfrm>
          <a:custGeom>
            <a:avLst/>
            <a:gdLst/>
            <a:ahLst/>
            <a:cxnLst/>
            <a:rect r="r" b="b" t="t" l="l"/>
            <a:pathLst>
              <a:path h="2500468" w="7315200">
                <a:moveTo>
                  <a:pt x="0" y="0"/>
                </a:moveTo>
                <a:lnTo>
                  <a:pt x="7315200" y="0"/>
                </a:lnTo>
                <a:lnTo>
                  <a:pt x="7315200" y="2500468"/>
                </a:lnTo>
                <a:lnTo>
                  <a:pt x="0" y="250046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5250395" y="7786532"/>
            <a:ext cx="7315200" cy="2500468"/>
          </a:xfrm>
          <a:custGeom>
            <a:avLst/>
            <a:gdLst/>
            <a:ahLst/>
            <a:cxnLst/>
            <a:rect r="r" b="b" t="t" l="l"/>
            <a:pathLst>
              <a:path h="2500468" w="7315200">
                <a:moveTo>
                  <a:pt x="0" y="0"/>
                </a:moveTo>
                <a:lnTo>
                  <a:pt x="7315200" y="0"/>
                </a:lnTo>
                <a:lnTo>
                  <a:pt x="7315200" y="2500468"/>
                </a:lnTo>
                <a:lnTo>
                  <a:pt x="0" y="250046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2118088" y="8358609"/>
            <a:ext cx="7315200" cy="2500468"/>
          </a:xfrm>
          <a:custGeom>
            <a:avLst/>
            <a:gdLst/>
            <a:ahLst/>
            <a:cxnLst/>
            <a:rect r="r" b="b" t="t" l="l"/>
            <a:pathLst>
              <a:path h="2500468" w="7315200">
                <a:moveTo>
                  <a:pt x="0" y="0"/>
                </a:moveTo>
                <a:lnTo>
                  <a:pt x="7315200" y="0"/>
                </a:lnTo>
                <a:lnTo>
                  <a:pt x="7315200" y="2500468"/>
                </a:lnTo>
                <a:lnTo>
                  <a:pt x="0" y="250046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196716">
            <a:off x="1482875" y="635259"/>
            <a:ext cx="618045" cy="618045"/>
            <a:chOff x="0" y="0"/>
            <a:chExt cx="812800" cy="812800"/>
          </a:xfrm>
        </p:grpSpPr>
        <p:sp>
          <p:nvSpPr>
            <p:cNvPr name="Freeform 7" id="7"/>
            <p:cNvSpPr/>
            <p:nvPr/>
          </p:nvSpPr>
          <p:spPr>
            <a:xfrm flipH="false" flipV="false" rot="0">
              <a:off x="47864" y="47864"/>
              <a:ext cx="717071" cy="717071"/>
            </a:xfrm>
            <a:custGeom>
              <a:avLst/>
              <a:gdLst/>
              <a:ahLst/>
              <a:cxnLst/>
              <a:rect r="r" b="b" t="t" l="l"/>
              <a:pathLst>
                <a:path h="717071" w="717071">
                  <a:moveTo>
                    <a:pt x="390321" y="20243"/>
                  </a:moveTo>
                  <a:lnTo>
                    <a:pt x="456066" y="161114"/>
                  </a:lnTo>
                  <a:cubicBezTo>
                    <a:pt x="476599" y="205109"/>
                    <a:pt x="511962" y="240473"/>
                    <a:pt x="555958" y="261006"/>
                  </a:cubicBezTo>
                  <a:lnTo>
                    <a:pt x="696829" y="326751"/>
                  </a:lnTo>
                  <a:cubicBezTo>
                    <a:pt x="709178" y="332514"/>
                    <a:pt x="717072" y="344908"/>
                    <a:pt x="717072" y="358536"/>
                  </a:cubicBezTo>
                  <a:cubicBezTo>
                    <a:pt x="717072" y="372164"/>
                    <a:pt x="709178" y="384558"/>
                    <a:pt x="696829" y="390321"/>
                  </a:cubicBezTo>
                  <a:lnTo>
                    <a:pt x="555958" y="456066"/>
                  </a:lnTo>
                  <a:cubicBezTo>
                    <a:pt x="511962" y="476599"/>
                    <a:pt x="476599" y="511962"/>
                    <a:pt x="456066" y="555958"/>
                  </a:cubicBezTo>
                  <a:lnTo>
                    <a:pt x="390321" y="696829"/>
                  </a:lnTo>
                  <a:cubicBezTo>
                    <a:pt x="384558" y="709178"/>
                    <a:pt x="372164" y="717072"/>
                    <a:pt x="358536" y="717072"/>
                  </a:cubicBezTo>
                  <a:cubicBezTo>
                    <a:pt x="344908" y="717072"/>
                    <a:pt x="332514" y="709178"/>
                    <a:pt x="326751" y="696829"/>
                  </a:cubicBezTo>
                  <a:lnTo>
                    <a:pt x="261006" y="555958"/>
                  </a:lnTo>
                  <a:cubicBezTo>
                    <a:pt x="240473" y="511962"/>
                    <a:pt x="205109" y="476599"/>
                    <a:pt x="161114" y="456066"/>
                  </a:cubicBezTo>
                  <a:lnTo>
                    <a:pt x="20243" y="390321"/>
                  </a:lnTo>
                  <a:cubicBezTo>
                    <a:pt x="7894" y="384558"/>
                    <a:pt x="0" y="372164"/>
                    <a:pt x="0" y="358536"/>
                  </a:cubicBezTo>
                  <a:cubicBezTo>
                    <a:pt x="0" y="344908"/>
                    <a:pt x="7894" y="332514"/>
                    <a:pt x="20243" y="326751"/>
                  </a:cubicBezTo>
                  <a:lnTo>
                    <a:pt x="161114" y="261006"/>
                  </a:lnTo>
                  <a:cubicBezTo>
                    <a:pt x="205109" y="240473"/>
                    <a:pt x="240473" y="205109"/>
                    <a:pt x="261006" y="161114"/>
                  </a:cubicBezTo>
                  <a:lnTo>
                    <a:pt x="326751" y="20243"/>
                  </a:lnTo>
                  <a:cubicBezTo>
                    <a:pt x="332514" y="7894"/>
                    <a:pt x="344908" y="0"/>
                    <a:pt x="358536" y="0"/>
                  </a:cubicBezTo>
                  <a:cubicBezTo>
                    <a:pt x="372164" y="0"/>
                    <a:pt x="384558" y="7894"/>
                    <a:pt x="390321" y="20243"/>
                  </a:cubicBezTo>
                  <a:close/>
                </a:path>
              </a:pathLst>
            </a:custGeom>
            <a:solidFill>
              <a:srgbClr val="FFEBB5"/>
            </a:solidFill>
            <a:ln w="19050" cap="sq">
              <a:solidFill>
                <a:srgbClr val="313131"/>
              </a:solidFill>
              <a:prstDash val="solid"/>
              <a:miter/>
            </a:ln>
          </p:spPr>
        </p:sp>
        <p:sp>
          <p:nvSpPr>
            <p:cNvPr name="TextBox 8" id="8"/>
            <p:cNvSpPr txBox="true"/>
            <p:nvPr/>
          </p:nvSpPr>
          <p:spPr>
            <a:xfrm>
              <a:off x="190500" y="152400"/>
              <a:ext cx="431800" cy="46990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250839">
            <a:off x="16194471" y="7803699"/>
            <a:ext cx="618045" cy="618045"/>
            <a:chOff x="0" y="0"/>
            <a:chExt cx="812800" cy="812800"/>
          </a:xfrm>
        </p:grpSpPr>
        <p:sp>
          <p:nvSpPr>
            <p:cNvPr name="Freeform 10" id="10"/>
            <p:cNvSpPr/>
            <p:nvPr/>
          </p:nvSpPr>
          <p:spPr>
            <a:xfrm flipH="false" flipV="false" rot="0">
              <a:off x="47864" y="47864"/>
              <a:ext cx="717071" cy="717071"/>
            </a:xfrm>
            <a:custGeom>
              <a:avLst/>
              <a:gdLst/>
              <a:ahLst/>
              <a:cxnLst/>
              <a:rect r="r" b="b" t="t" l="l"/>
              <a:pathLst>
                <a:path h="717071" w="717071">
                  <a:moveTo>
                    <a:pt x="390321" y="20243"/>
                  </a:moveTo>
                  <a:lnTo>
                    <a:pt x="456066" y="161114"/>
                  </a:lnTo>
                  <a:cubicBezTo>
                    <a:pt x="476599" y="205109"/>
                    <a:pt x="511962" y="240473"/>
                    <a:pt x="555958" y="261006"/>
                  </a:cubicBezTo>
                  <a:lnTo>
                    <a:pt x="696829" y="326751"/>
                  </a:lnTo>
                  <a:cubicBezTo>
                    <a:pt x="709178" y="332514"/>
                    <a:pt x="717072" y="344908"/>
                    <a:pt x="717072" y="358536"/>
                  </a:cubicBezTo>
                  <a:cubicBezTo>
                    <a:pt x="717072" y="372164"/>
                    <a:pt x="709178" y="384558"/>
                    <a:pt x="696829" y="390321"/>
                  </a:cubicBezTo>
                  <a:lnTo>
                    <a:pt x="555958" y="456066"/>
                  </a:lnTo>
                  <a:cubicBezTo>
                    <a:pt x="511962" y="476599"/>
                    <a:pt x="476599" y="511962"/>
                    <a:pt x="456066" y="555958"/>
                  </a:cubicBezTo>
                  <a:lnTo>
                    <a:pt x="390321" y="696829"/>
                  </a:lnTo>
                  <a:cubicBezTo>
                    <a:pt x="384558" y="709178"/>
                    <a:pt x="372164" y="717072"/>
                    <a:pt x="358536" y="717072"/>
                  </a:cubicBezTo>
                  <a:cubicBezTo>
                    <a:pt x="344908" y="717072"/>
                    <a:pt x="332514" y="709178"/>
                    <a:pt x="326751" y="696829"/>
                  </a:cubicBezTo>
                  <a:lnTo>
                    <a:pt x="261006" y="555958"/>
                  </a:lnTo>
                  <a:cubicBezTo>
                    <a:pt x="240473" y="511962"/>
                    <a:pt x="205109" y="476599"/>
                    <a:pt x="161114" y="456066"/>
                  </a:cubicBezTo>
                  <a:lnTo>
                    <a:pt x="20243" y="390321"/>
                  </a:lnTo>
                  <a:cubicBezTo>
                    <a:pt x="7894" y="384558"/>
                    <a:pt x="0" y="372164"/>
                    <a:pt x="0" y="358536"/>
                  </a:cubicBezTo>
                  <a:cubicBezTo>
                    <a:pt x="0" y="344908"/>
                    <a:pt x="7894" y="332514"/>
                    <a:pt x="20243" y="326751"/>
                  </a:cubicBezTo>
                  <a:lnTo>
                    <a:pt x="161114" y="261006"/>
                  </a:lnTo>
                  <a:cubicBezTo>
                    <a:pt x="205109" y="240473"/>
                    <a:pt x="240473" y="205109"/>
                    <a:pt x="261006" y="161114"/>
                  </a:cubicBezTo>
                  <a:lnTo>
                    <a:pt x="326751" y="20243"/>
                  </a:lnTo>
                  <a:cubicBezTo>
                    <a:pt x="332514" y="7894"/>
                    <a:pt x="344908" y="0"/>
                    <a:pt x="358536" y="0"/>
                  </a:cubicBezTo>
                  <a:cubicBezTo>
                    <a:pt x="372164" y="0"/>
                    <a:pt x="384558" y="7894"/>
                    <a:pt x="390321" y="20243"/>
                  </a:cubicBezTo>
                  <a:close/>
                </a:path>
              </a:pathLst>
            </a:custGeom>
            <a:solidFill>
              <a:srgbClr val="FFEBB5"/>
            </a:solidFill>
            <a:ln w="19050" cap="sq">
              <a:solidFill>
                <a:srgbClr val="313131"/>
              </a:solidFill>
              <a:prstDash val="solid"/>
              <a:miter/>
            </a:ln>
          </p:spPr>
        </p:sp>
        <p:sp>
          <p:nvSpPr>
            <p:cNvPr name="TextBox 11" id="11"/>
            <p:cNvSpPr txBox="true"/>
            <p:nvPr/>
          </p:nvSpPr>
          <p:spPr>
            <a:xfrm>
              <a:off x="190500" y="152400"/>
              <a:ext cx="431800" cy="469900"/>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197763">
            <a:off x="15667679" y="1985280"/>
            <a:ext cx="618045" cy="618045"/>
            <a:chOff x="0" y="0"/>
            <a:chExt cx="812800" cy="812800"/>
          </a:xfrm>
        </p:grpSpPr>
        <p:sp>
          <p:nvSpPr>
            <p:cNvPr name="Freeform 13" id="13"/>
            <p:cNvSpPr/>
            <p:nvPr/>
          </p:nvSpPr>
          <p:spPr>
            <a:xfrm flipH="false" flipV="false" rot="0">
              <a:off x="47864" y="47864"/>
              <a:ext cx="717071" cy="717071"/>
            </a:xfrm>
            <a:custGeom>
              <a:avLst/>
              <a:gdLst/>
              <a:ahLst/>
              <a:cxnLst/>
              <a:rect r="r" b="b" t="t" l="l"/>
              <a:pathLst>
                <a:path h="717071" w="717071">
                  <a:moveTo>
                    <a:pt x="390321" y="20243"/>
                  </a:moveTo>
                  <a:lnTo>
                    <a:pt x="456066" y="161114"/>
                  </a:lnTo>
                  <a:cubicBezTo>
                    <a:pt x="476599" y="205109"/>
                    <a:pt x="511962" y="240473"/>
                    <a:pt x="555958" y="261006"/>
                  </a:cubicBezTo>
                  <a:lnTo>
                    <a:pt x="696829" y="326751"/>
                  </a:lnTo>
                  <a:cubicBezTo>
                    <a:pt x="709178" y="332514"/>
                    <a:pt x="717072" y="344908"/>
                    <a:pt x="717072" y="358536"/>
                  </a:cubicBezTo>
                  <a:cubicBezTo>
                    <a:pt x="717072" y="372164"/>
                    <a:pt x="709178" y="384558"/>
                    <a:pt x="696829" y="390321"/>
                  </a:cubicBezTo>
                  <a:lnTo>
                    <a:pt x="555958" y="456066"/>
                  </a:lnTo>
                  <a:cubicBezTo>
                    <a:pt x="511962" y="476599"/>
                    <a:pt x="476599" y="511962"/>
                    <a:pt x="456066" y="555958"/>
                  </a:cubicBezTo>
                  <a:lnTo>
                    <a:pt x="390321" y="696829"/>
                  </a:lnTo>
                  <a:cubicBezTo>
                    <a:pt x="384558" y="709178"/>
                    <a:pt x="372164" y="717072"/>
                    <a:pt x="358536" y="717072"/>
                  </a:cubicBezTo>
                  <a:cubicBezTo>
                    <a:pt x="344908" y="717072"/>
                    <a:pt x="332514" y="709178"/>
                    <a:pt x="326751" y="696829"/>
                  </a:cubicBezTo>
                  <a:lnTo>
                    <a:pt x="261006" y="555958"/>
                  </a:lnTo>
                  <a:cubicBezTo>
                    <a:pt x="240473" y="511962"/>
                    <a:pt x="205109" y="476599"/>
                    <a:pt x="161114" y="456066"/>
                  </a:cubicBezTo>
                  <a:lnTo>
                    <a:pt x="20243" y="390321"/>
                  </a:lnTo>
                  <a:cubicBezTo>
                    <a:pt x="7894" y="384558"/>
                    <a:pt x="0" y="372164"/>
                    <a:pt x="0" y="358536"/>
                  </a:cubicBezTo>
                  <a:cubicBezTo>
                    <a:pt x="0" y="344908"/>
                    <a:pt x="7894" y="332514"/>
                    <a:pt x="20243" y="326751"/>
                  </a:cubicBezTo>
                  <a:lnTo>
                    <a:pt x="161114" y="261006"/>
                  </a:lnTo>
                  <a:cubicBezTo>
                    <a:pt x="205109" y="240473"/>
                    <a:pt x="240473" y="205109"/>
                    <a:pt x="261006" y="161114"/>
                  </a:cubicBezTo>
                  <a:lnTo>
                    <a:pt x="326751" y="20243"/>
                  </a:lnTo>
                  <a:cubicBezTo>
                    <a:pt x="332514" y="7894"/>
                    <a:pt x="344908" y="0"/>
                    <a:pt x="358536" y="0"/>
                  </a:cubicBezTo>
                  <a:cubicBezTo>
                    <a:pt x="372164" y="0"/>
                    <a:pt x="384558" y="7894"/>
                    <a:pt x="390321" y="20243"/>
                  </a:cubicBezTo>
                  <a:close/>
                </a:path>
              </a:pathLst>
            </a:custGeom>
            <a:solidFill>
              <a:srgbClr val="FFEBB5"/>
            </a:solidFill>
            <a:ln w="19050" cap="sq">
              <a:solidFill>
                <a:srgbClr val="313131"/>
              </a:solidFill>
              <a:prstDash val="solid"/>
              <a:miter/>
            </a:ln>
          </p:spPr>
        </p:sp>
        <p:sp>
          <p:nvSpPr>
            <p:cNvPr name="TextBox 14" id="14"/>
            <p:cNvSpPr txBox="true"/>
            <p:nvPr/>
          </p:nvSpPr>
          <p:spPr>
            <a:xfrm>
              <a:off x="190500" y="152400"/>
              <a:ext cx="431800" cy="469900"/>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767333">
            <a:off x="527549" y="6980998"/>
            <a:ext cx="456307" cy="456307"/>
            <a:chOff x="0" y="0"/>
            <a:chExt cx="812800" cy="812800"/>
          </a:xfrm>
        </p:grpSpPr>
        <p:sp>
          <p:nvSpPr>
            <p:cNvPr name="Freeform 16" id="16"/>
            <p:cNvSpPr/>
            <p:nvPr/>
          </p:nvSpPr>
          <p:spPr>
            <a:xfrm flipH="false" flipV="false" rot="0">
              <a:off x="64830" y="64830"/>
              <a:ext cx="683140" cy="683140"/>
            </a:xfrm>
            <a:custGeom>
              <a:avLst/>
              <a:gdLst/>
              <a:ahLst/>
              <a:cxnLst/>
              <a:rect r="r" b="b" t="t" l="l"/>
              <a:pathLst>
                <a:path h="683140" w="683140">
                  <a:moveTo>
                    <a:pt x="384622" y="27417"/>
                  </a:moveTo>
                  <a:lnTo>
                    <a:pt x="427833" y="120008"/>
                  </a:lnTo>
                  <a:cubicBezTo>
                    <a:pt x="455644" y="179597"/>
                    <a:pt x="503543" y="227496"/>
                    <a:pt x="563132" y="255306"/>
                  </a:cubicBezTo>
                  <a:lnTo>
                    <a:pt x="655723" y="298518"/>
                  </a:lnTo>
                  <a:cubicBezTo>
                    <a:pt x="672449" y="306324"/>
                    <a:pt x="683140" y="323112"/>
                    <a:pt x="683140" y="341570"/>
                  </a:cubicBezTo>
                  <a:cubicBezTo>
                    <a:pt x="683140" y="360028"/>
                    <a:pt x="672449" y="376816"/>
                    <a:pt x="655723" y="384622"/>
                  </a:cubicBezTo>
                  <a:lnTo>
                    <a:pt x="563132" y="427833"/>
                  </a:lnTo>
                  <a:cubicBezTo>
                    <a:pt x="503543" y="455644"/>
                    <a:pt x="455644" y="503543"/>
                    <a:pt x="427833" y="563132"/>
                  </a:cubicBezTo>
                  <a:lnTo>
                    <a:pt x="384622" y="655723"/>
                  </a:lnTo>
                  <a:cubicBezTo>
                    <a:pt x="376816" y="672449"/>
                    <a:pt x="360028" y="683140"/>
                    <a:pt x="341570" y="683140"/>
                  </a:cubicBezTo>
                  <a:cubicBezTo>
                    <a:pt x="323112" y="683140"/>
                    <a:pt x="306324" y="672449"/>
                    <a:pt x="298518" y="655723"/>
                  </a:cubicBezTo>
                  <a:lnTo>
                    <a:pt x="255306" y="563132"/>
                  </a:lnTo>
                  <a:cubicBezTo>
                    <a:pt x="227496" y="503543"/>
                    <a:pt x="179597" y="455644"/>
                    <a:pt x="120008" y="427833"/>
                  </a:cubicBezTo>
                  <a:lnTo>
                    <a:pt x="27417" y="384622"/>
                  </a:lnTo>
                  <a:cubicBezTo>
                    <a:pt x="10691" y="376816"/>
                    <a:pt x="0" y="360028"/>
                    <a:pt x="0" y="341570"/>
                  </a:cubicBezTo>
                  <a:cubicBezTo>
                    <a:pt x="0" y="323112"/>
                    <a:pt x="10691" y="306324"/>
                    <a:pt x="27417" y="298518"/>
                  </a:cubicBezTo>
                  <a:lnTo>
                    <a:pt x="120008" y="255306"/>
                  </a:lnTo>
                  <a:cubicBezTo>
                    <a:pt x="179597" y="227496"/>
                    <a:pt x="227496" y="179597"/>
                    <a:pt x="255306" y="120008"/>
                  </a:cubicBezTo>
                  <a:lnTo>
                    <a:pt x="298518" y="27417"/>
                  </a:lnTo>
                  <a:cubicBezTo>
                    <a:pt x="306324" y="10691"/>
                    <a:pt x="323112" y="0"/>
                    <a:pt x="341570" y="0"/>
                  </a:cubicBezTo>
                  <a:cubicBezTo>
                    <a:pt x="360028" y="0"/>
                    <a:pt x="376816" y="10691"/>
                    <a:pt x="384622" y="27417"/>
                  </a:cubicBezTo>
                  <a:close/>
                </a:path>
              </a:pathLst>
            </a:custGeom>
            <a:solidFill>
              <a:srgbClr val="FFEBB5"/>
            </a:solidFill>
            <a:ln w="19050" cap="sq">
              <a:solidFill>
                <a:srgbClr val="313131"/>
              </a:solidFill>
              <a:prstDash val="solid"/>
              <a:miter/>
            </a:ln>
          </p:spPr>
        </p:sp>
        <p:sp>
          <p:nvSpPr>
            <p:cNvPr name="TextBox 17" id="17"/>
            <p:cNvSpPr txBox="true"/>
            <p:nvPr/>
          </p:nvSpPr>
          <p:spPr>
            <a:xfrm>
              <a:off x="190500" y="152400"/>
              <a:ext cx="431800" cy="469900"/>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16302981" y="-2097445"/>
            <a:ext cx="3970038" cy="3970038"/>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a:solidFill>
                <a:srgbClr val="D5BFE7"/>
              </a:solidFill>
              <a:prstDash val="solid"/>
              <a:miter/>
            </a:ln>
          </p:spPr>
        </p:sp>
        <p:sp>
          <p:nvSpPr>
            <p:cNvPr name="TextBox 20" id="2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6402313" y="1665941"/>
            <a:ext cx="5483374" cy="411477"/>
            <a:chOff x="0" y="0"/>
            <a:chExt cx="1444181" cy="108372"/>
          </a:xfrm>
        </p:grpSpPr>
        <p:sp>
          <p:nvSpPr>
            <p:cNvPr name="Freeform 22" id="22"/>
            <p:cNvSpPr/>
            <p:nvPr/>
          </p:nvSpPr>
          <p:spPr>
            <a:xfrm flipH="false" flipV="false" rot="0">
              <a:off x="0" y="0"/>
              <a:ext cx="1444181" cy="108372"/>
            </a:xfrm>
            <a:custGeom>
              <a:avLst/>
              <a:gdLst/>
              <a:ahLst/>
              <a:cxnLst/>
              <a:rect r="r" b="b" t="t" l="l"/>
              <a:pathLst>
                <a:path h="108372" w="1444181">
                  <a:moveTo>
                    <a:pt x="0" y="0"/>
                  </a:moveTo>
                  <a:lnTo>
                    <a:pt x="1444181" y="0"/>
                  </a:lnTo>
                  <a:lnTo>
                    <a:pt x="1444181" y="108372"/>
                  </a:lnTo>
                  <a:lnTo>
                    <a:pt x="0" y="108372"/>
                  </a:lnTo>
                  <a:close/>
                </a:path>
              </a:pathLst>
            </a:custGeom>
            <a:solidFill>
              <a:srgbClr val="A8DED6"/>
            </a:solidFill>
            <a:ln cap="sq">
              <a:noFill/>
              <a:prstDash val="solid"/>
              <a:miter/>
            </a:ln>
          </p:spPr>
        </p:sp>
        <p:sp>
          <p:nvSpPr>
            <p:cNvPr name="TextBox 23" id="23"/>
            <p:cNvSpPr txBox="true"/>
            <p:nvPr/>
          </p:nvSpPr>
          <p:spPr>
            <a:xfrm>
              <a:off x="0" y="-38100"/>
              <a:ext cx="1444181" cy="146472"/>
            </a:xfrm>
            <a:prstGeom prst="rect">
              <a:avLst/>
            </a:prstGeom>
          </p:spPr>
          <p:txBody>
            <a:bodyPr anchor="ctr" rtlCol="false" tIns="50800" lIns="50800" bIns="50800" rIns="50800"/>
            <a:lstStyle/>
            <a:p>
              <a:pPr algn="ctr">
                <a:lnSpc>
                  <a:spcPts val="2659"/>
                </a:lnSpc>
              </a:pPr>
            </a:p>
          </p:txBody>
        </p:sp>
      </p:grpSp>
      <p:sp>
        <p:nvSpPr>
          <p:cNvPr name="TextBox 24" id="24"/>
          <p:cNvSpPr txBox="true"/>
          <p:nvPr/>
        </p:nvSpPr>
        <p:spPr>
          <a:xfrm rot="0">
            <a:off x="6676216" y="1592690"/>
            <a:ext cx="4935568" cy="548455"/>
          </a:xfrm>
          <a:prstGeom prst="rect">
            <a:avLst/>
          </a:prstGeom>
        </p:spPr>
        <p:txBody>
          <a:bodyPr anchor="t" rtlCol="false" tIns="0" lIns="0" bIns="0" rIns="0">
            <a:spAutoFit/>
          </a:bodyPr>
          <a:lstStyle/>
          <a:p>
            <a:pPr algn="ctr">
              <a:lnSpc>
                <a:spcPts val="3598"/>
              </a:lnSpc>
            </a:pPr>
            <a:r>
              <a:rPr lang="en-US" sz="3563">
                <a:solidFill>
                  <a:srgbClr val="000000"/>
                </a:solidFill>
                <a:latin typeface="Chunk Five"/>
                <a:ea typeface="Chunk Five"/>
                <a:cs typeface="Chunk Five"/>
                <a:sym typeface="Chunk Five"/>
              </a:rPr>
              <a:t>THE MASTERPLAN.</a:t>
            </a:r>
          </a:p>
        </p:txBody>
      </p:sp>
      <p:sp>
        <p:nvSpPr>
          <p:cNvPr name="Freeform 25" id="25"/>
          <p:cNvSpPr/>
          <p:nvPr/>
        </p:nvSpPr>
        <p:spPr>
          <a:xfrm flipH="false" flipV="false" rot="0">
            <a:off x="9788347" y="2833534"/>
            <a:ext cx="8337867" cy="4489621"/>
          </a:xfrm>
          <a:custGeom>
            <a:avLst/>
            <a:gdLst/>
            <a:ahLst/>
            <a:cxnLst/>
            <a:rect r="r" b="b" t="t" l="l"/>
            <a:pathLst>
              <a:path h="4489621" w="8337867">
                <a:moveTo>
                  <a:pt x="0" y="0"/>
                </a:moveTo>
                <a:lnTo>
                  <a:pt x="8337867" y="0"/>
                </a:lnTo>
                <a:lnTo>
                  <a:pt x="8337867" y="4489620"/>
                </a:lnTo>
                <a:lnTo>
                  <a:pt x="0" y="448962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26" id="26"/>
          <p:cNvSpPr txBox="true"/>
          <p:nvPr/>
        </p:nvSpPr>
        <p:spPr>
          <a:xfrm rot="0">
            <a:off x="10248826" y="4276328"/>
            <a:ext cx="7797757" cy="2666247"/>
          </a:xfrm>
          <a:prstGeom prst="rect">
            <a:avLst/>
          </a:prstGeom>
        </p:spPr>
        <p:txBody>
          <a:bodyPr anchor="t" rtlCol="false" tIns="0" lIns="0" bIns="0" rIns="0">
            <a:spAutoFit/>
          </a:bodyPr>
          <a:lstStyle/>
          <a:p>
            <a:pPr algn="just">
              <a:lnSpc>
                <a:spcPts val="2159"/>
              </a:lnSpc>
            </a:pPr>
            <a:r>
              <a:rPr lang="en-US" sz="1542">
                <a:solidFill>
                  <a:srgbClr val="000000"/>
                </a:solidFill>
                <a:latin typeface="Inter"/>
                <a:ea typeface="Inter"/>
                <a:cs typeface="Inter"/>
                <a:sym typeface="Inter"/>
              </a:rPr>
              <a:t>1. Strategic Pillars</a:t>
            </a:r>
          </a:p>
          <a:p>
            <a:pPr algn="just" marL="333059" indent="-166529" lvl="1">
              <a:lnSpc>
                <a:spcPts val="2159"/>
              </a:lnSpc>
              <a:buFont typeface="Arial"/>
              <a:buChar char="•"/>
            </a:pPr>
            <a:r>
              <a:rPr lang="en-US" sz="1542">
                <a:solidFill>
                  <a:srgbClr val="000000"/>
                </a:solidFill>
                <a:latin typeface="Inter"/>
                <a:ea typeface="Inter"/>
                <a:cs typeface="Inter"/>
                <a:sym typeface="Inter"/>
              </a:rPr>
              <a:t>🌱 Product: Launch "Eco-Warrior Fuel" (Organic Coffee + Pastry Bundle) untuk menaikkan Average Ticket Size.</a:t>
            </a:r>
          </a:p>
          <a:p>
            <a:pPr algn="just" marL="333059" indent="-166529" lvl="1">
              <a:lnSpc>
                <a:spcPts val="2159"/>
              </a:lnSpc>
              <a:buFont typeface="Arial"/>
              <a:buChar char="•"/>
            </a:pPr>
            <a:r>
              <a:rPr lang="en-US" sz="1542">
                <a:solidFill>
                  <a:srgbClr val="000000"/>
                </a:solidFill>
                <a:latin typeface="Inter"/>
                <a:ea typeface="Inter"/>
                <a:cs typeface="Inter"/>
                <a:sym typeface="Inter"/>
              </a:rPr>
              <a:t>⚡ Location: "Morning Express Lane" khusus aplikasi di Lower Manhattan (07:00-09:00).</a:t>
            </a:r>
          </a:p>
          <a:p>
            <a:pPr algn="just" marL="333059" indent="-166529" lvl="1">
              <a:lnSpc>
                <a:spcPts val="2159"/>
              </a:lnSpc>
              <a:buFont typeface="Arial"/>
              <a:buChar char="•"/>
            </a:pPr>
            <a:r>
              <a:rPr lang="en-US" sz="1542">
                <a:solidFill>
                  <a:srgbClr val="000000"/>
                </a:solidFill>
                <a:latin typeface="Inter"/>
                <a:ea typeface="Inter"/>
                <a:cs typeface="Inter"/>
                <a:sym typeface="Inter"/>
              </a:rPr>
              <a:t>❤️ Brand: Kampanye #UrbanBrewRealTalk untuk loyalitas Gen Z.</a:t>
            </a:r>
          </a:p>
          <a:p>
            <a:pPr algn="just">
              <a:lnSpc>
                <a:spcPts val="2159"/>
              </a:lnSpc>
            </a:pPr>
            <a:r>
              <a:rPr lang="en-US" sz="1542">
                <a:solidFill>
                  <a:srgbClr val="000000"/>
                </a:solidFill>
                <a:latin typeface="Inter"/>
                <a:ea typeface="Inter"/>
                <a:cs typeface="Inter"/>
                <a:sym typeface="Inter"/>
              </a:rPr>
              <a:t>2. Call to Action (CTA)</a:t>
            </a:r>
          </a:p>
          <a:p>
            <a:pPr algn="just">
              <a:lnSpc>
                <a:spcPts val="2159"/>
              </a:lnSpc>
            </a:pPr>
            <a:r>
              <a:rPr lang="en-US" sz="1542">
                <a:solidFill>
                  <a:srgbClr val="000000"/>
                </a:solidFill>
                <a:latin typeface="Inter"/>
                <a:ea typeface="Inter"/>
                <a:cs typeface="Inter"/>
                <a:sym typeface="Inter"/>
              </a:rPr>
              <a:t>"Kami </a:t>
            </a:r>
            <a:r>
              <a:rPr lang="en-US" sz="1542">
                <a:solidFill>
                  <a:srgbClr val="000000"/>
                </a:solidFill>
                <a:latin typeface="Inter"/>
                <a:ea typeface="Inter"/>
                <a:cs typeface="Inter"/>
                <a:sym typeface="Inter"/>
              </a:rPr>
              <a:t>mengajukan persetujuan Pilot Project Q4 untuk strategi Eco-Bundle dengan target kenaikan revenue 7%.</a:t>
            </a:r>
          </a:p>
          <a:p>
            <a:pPr algn="just" marL="0" indent="0" lvl="0">
              <a:lnSpc>
                <a:spcPts val="2159"/>
              </a:lnSpc>
              <a:spcBef>
                <a:spcPct val="0"/>
              </a:spcBef>
            </a:pPr>
          </a:p>
        </p:txBody>
      </p:sp>
      <p:sp>
        <p:nvSpPr>
          <p:cNvPr name="TextBox 27" id="27"/>
          <p:cNvSpPr txBox="true"/>
          <p:nvPr/>
        </p:nvSpPr>
        <p:spPr>
          <a:xfrm rot="0">
            <a:off x="10248826" y="3796837"/>
            <a:ext cx="4323370" cy="422341"/>
          </a:xfrm>
          <a:prstGeom prst="rect">
            <a:avLst/>
          </a:prstGeom>
        </p:spPr>
        <p:txBody>
          <a:bodyPr anchor="t" rtlCol="false" tIns="0" lIns="0" bIns="0" rIns="0">
            <a:spAutoFit/>
          </a:bodyPr>
          <a:lstStyle/>
          <a:p>
            <a:pPr algn="l" marL="0" indent="0" lvl="0">
              <a:lnSpc>
                <a:spcPts val="3499"/>
              </a:lnSpc>
              <a:spcBef>
                <a:spcPct val="0"/>
              </a:spcBef>
            </a:pPr>
            <a:r>
              <a:rPr lang="en-US" b="true" sz="2499">
                <a:solidFill>
                  <a:srgbClr val="000000"/>
                </a:solidFill>
                <a:latin typeface="Inter Bold"/>
                <a:ea typeface="Inter Bold"/>
                <a:cs typeface="Inter Bold"/>
                <a:sym typeface="Inter Bold"/>
              </a:rPr>
              <a:t>Penjelasan</a:t>
            </a:r>
          </a:p>
        </p:txBody>
      </p:sp>
      <p:sp>
        <p:nvSpPr>
          <p:cNvPr name="Freeform 28" id="28"/>
          <p:cNvSpPr/>
          <p:nvPr/>
        </p:nvSpPr>
        <p:spPr>
          <a:xfrm flipH="false" flipV="false" rot="719075">
            <a:off x="7498949" y="2969223"/>
            <a:ext cx="596943" cy="955109"/>
          </a:xfrm>
          <a:custGeom>
            <a:avLst/>
            <a:gdLst/>
            <a:ahLst/>
            <a:cxnLst/>
            <a:rect r="r" b="b" t="t" l="l"/>
            <a:pathLst>
              <a:path h="955109" w="596943">
                <a:moveTo>
                  <a:pt x="0" y="0"/>
                </a:moveTo>
                <a:lnTo>
                  <a:pt x="596943" y="0"/>
                </a:lnTo>
                <a:lnTo>
                  <a:pt x="596943" y="955108"/>
                </a:lnTo>
                <a:lnTo>
                  <a:pt x="0" y="95510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9" id="29"/>
          <p:cNvSpPr/>
          <p:nvPr/>
        </p:nvSpPr>
        <p:spPr>
          <a:xfrm flipH="false" flipV="false" rot="-1577718">
            <a:off x="15104407" y="7642558"/>
            <a:ext cx="700244" cy="940327"/>
          </a:xfrm>
          <a:custGeom>
            <a:avLst/>
            <a:gdLst/>
            <a:ahLst/>
            <a:cxnLst/>
            <a:rect r="r" b="b" t="t" l="l"/>
            <a:pathLst>
              <a:path h="940327" w="700244">
                <a:moveTo>
                  <a:pt x="0" y="0"/>
                </a:moveTo>
                <a:lnTo>
                  <a:pt x="700243" y="0"/>
                </a:lnTo>
                <a:lnTo>
                  <a:pt x="700243" y="940327"/>
                </a:lnTo>
                <a:lnTo>
                  <a:pt x="0" y="94032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30" id="30"/>
          <p:cNvGrpSpPr/>
          <p:nvPr/>
        </p:nvGrpSpPr>
        <p:grpSpPr>
          <a:xfrm rot="0">
            <a:off x="2666768" y="2458796"/>
            <a:ext cx="4334638" cy="6339411"/>
            <a:chOff x="0" y="0"/>
            <a:chExt cx="1440955" cy="2107397"/>
          </a:xfrm>
        </p:grpSpPr>
        <p:sp>
          <p:nvSpPr>
            <p:cNvPr name="Freeform 31" id="31"/>
            <p:cNvSpPr/>
            <p:nvPr/>
          </p:nvSpPr>
          <p:spPr>
            <a:xfrm flipH="false" flipV="false" rot="0">
              <a:off x="0" y="0"/>
              <a:ext cx="1440955" cy="2107398"/>
            </a:xfrm>
            <a:custGeom>
              <a:avLst/>
              <a:gdLst/>
              <a:ahLst/>
              <a:cxnLst/>
              <a:rect r="r" b="b" t="t" l="l"/>
              <a:pathLst>
                <a:path h="2107398" w="1440955">
                  <a:moveTo>
                    <a:pt x="0" y="0"/>
                  </a:moveTo>
                  <a:lnTo>
                    <a:pt x="1440955" y="0"/>
                  </a:lnTo>
                  <a:lnTo>
                    <a:pt x="1440955" y="2107398"/>
                  </a:lnTo>
                  <a:lnTo>
                    <a:pt x="0" y="2107398"/>
                  </a:lnTo>
                  <a:close/>
                </a:path>
              </a:pathLst>
            </a:custGeom>
            <a:solidFill>
              <a:srgbClr val="E9DBED"/>
            </a:solidFill>
            <a:ln w="28575" cap="sq">
              <a:solidFill>
                <a:srgbClr val="313131"/>
              </a:solidFill>
              <a:prstDash val="solid"/>
              <a:miter/>
            </a:ln>
          </p:spPr>
        </p:sp>
        <p:sp>
          <p:nvSpPr>
            <p:cNvPr name="TextBox 32" id="32"/>
            <p:cNvSpPr txBox="true"/>
            <p:nvPr/>
          </p:nvSpPr>
          <p:spPr>
            <a:xfrm>
              <a:off x="0" y="-38100"/>
              <a:ext cx="1440955" cy="2145497"/>
            </a:xfrm>
            <a:prstGeom prst="rect">
              <a:avLst/>
            </a:prstGeom>
          </p:spPr>
          <p:txBody>
            <a:bodyPr anchor="ctr" rtlCol="false" tIns="50800" lIns="50800" bIns="50800" rIns="50800"/>
            <a:lstStyle/>
            <a:p>
              <a:pPr algn="ctr">
                <a:lnSpc>
                  <a:spcPts val="2659"/>
                </a:lnSpc>
              </a:pPr>
            </a:p>
          </p:txBody>
        </p:sp>
      </p:grpSp>
      <p:grpSp>
        <p:nvGrpSpPr>
          <p:cNvPr name="Group 33" id="33"/>
          <p:cNvGrpSpPr/>
          <p:nvPr/>
        </p:nvGrpSpPr>
        <p:grpSpPr>
          <a:xfrm rot="0">
            <a:off x="2834612" y="2596136"/>
            <a:ext cx="4349095" cy="6064731"/>
            <a:chOff x="0" y="0"/>
            <a:chExt cx="1445761" cy="2016086"/>
          </a:xfrm>
        </p:grpSpPr>
        <p:sp>
          <p:nvSpPr>
            <p:cNvPr name="Freeform 34" id="34"/>
            <p:cNvSpPr/>
            <p:nvPr/>
          </p:nvSpPr>
          <p:spPr>
            <a:xfrm flipH="false" flipV="false" rot="0">
              <a:off x="0" y="0"/>
              <a:ext cx="1445761" cy="2016086"/>
            </a:xfrm>
            <a:custGeom>
              <a:avLst/>
              <a:gdLst/>
              <a:ahLst/>
              <a:cxnLst/>
              <a:rect r="r" b="b" t="t" l="l"/>
              <a:pathLst>
                <a:path h="2016086" w="1445761">
                  <a:moveTo>
                    <a:pt x="0" y="0"/>
                  </a:moveTo>
                  <a:lnTo>
                    <a:pt x="1445761" y="0"/>
                  </a:lnTo>
                  <a:lnTo>
                    <a:pt x="1445761" y="2016086"/>
                  </a:lnTo>
                  <a:lnTo>
                    <a:pt x="0" y="2016086"/>
                  </a:lnTo>
                  <a:close/>
                </a:path>
              </a:pathLst>
            </a:custGeom>
            <a:solidFill>
              <a:srgbClr val="FFE2DE"/>
            </a:solidFill>
            <a:ln w="28575" cap="sq">
              <a:solidFill>
                <a:srgbClr val="313131"/>
              </a:solidFill>
              <a:prstDash val="solid"/>
              <a:miter/>
            </a:ln>
          </p:spPr>
        </p:sp>
        <p:sp>
          <p:nvSpPr>
            <p:cNvPr name="TextBox 35" id="35"/>
            <p:cNvSpPr txBox="true"/>
            <p:nvPr/>
          </p:nvSpPr>
          <p:spPr>
            <a:xfrm>
              <a:off x="0" y="-38100"/>
              <a:ext cx="1445761" cy="2054186"/>
            </a:xfrm>
            <a:prstGeom prst="rect">
              <a:avLst/>
            </a:prstGeom>
          </p:spPr>
          <p:txBody>
            <a:bodyPr anchor="ctr" rtlCol="false" tIns="50800" lIns="50800" bIns="50800" rIns="50800"/>
            <a:lstStyle/>
            <a:p>
              <a:pPr algn="ctr">
                <a:lnSpc>
                  <a:spcPts val="2659"/>
                </a:lnSpc>
              </a:pPr>
            </a:p>
          </p:txBody>
        </p:sp>
      </p:grpSp>
      <p:pic>
        <p:nvPicPr>
          <p:cNvPr name="Picture 36" id="36"/>
          <p:cNvPicPr>
            <a:picLocks noChangeAspect="true"/>
          </p:cNvPicPr>
          <p:nvPr/>
        </p:nvPicPr>
        <p:blipFill>
          <a:blip r:embed="rId11"/>
          <a:stretch>
            <a:fillRect/>
          </a:stretch>
        </p:blipFill>
        <p:spPr>
          <a:xfrm rot="0">
            <a:off x="2616270" y="3382209"/>
            <a:ext cx="4783786" cy="4492585"/>
          </a:xfrm>
          <a:prstGeom prst="rect">
            <a:avLst/>
          </a:prstGeom>
        </p:spPr>
      </p:pic>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1523789" y="2195697"/>
            <a:ext cx="5860604" cy="2003261"/>
          </a:xfrm>
          <a:custGeom>
            <a:avLst/>
            <a:gdLst/>
            <a:ahLst/>
            <a:cxnLst/>
            <a:rect r="r" b="b" t="t" l="l"/>
            <a:pathLst>
              <a:path h="2003261" w="5860604">
                <a:moveTo>
                  <a:pt x="0" y="0"/>
                </a:moveTo>
                <a:lnTo>
                  <a:pt x="5860604" y="0"/>
                </a:lnTo>
                <a:lnTo>
                  <a:pt x="5860604" y="2003262"/>
                </a:lnTo>
                <a:lnTo>
                  <a:pt x="0" y="200326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2628900" y="1698490"/>
            <a:ext cx="7315200" cy="2500468"/>
          </a:xfrm>
          <a:custGeom>
            <a:avLst/>
            <a:gdLst/>
            <a:ahLst/>
            <a:cxnLst/>
            <a:rect r="r" b="b" t="t" l="l"/>
            <a:pathLst>
              <a:path h="2500468" w="7315200">
                <a:moveTo>
                  <a:pt x="0" y="0"/>
                </a:moveTo>
                <a:lnTo>
                  <a:pt x="7315200" y="0"/>
                </a:lnTo>
                <a:lnTo>
                  <a:pt x="7315200" y="2500469"/>
                </a:lnTo>
                <a:lnTo>
                  <a:pt x="0" y="250046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5250395" y="7097517"/>
            <a:ext cx="7315200" cy="2500468"/>
          </a:xfrm>
          <a:custGeom>
            <a:avLst/>
            <a:gdLst/>
            <a:ahLst/>
            <a:cxnLst/>
            <a:rect r="r" b="b" t="t" l="l"/>
            <a:pathLst>
              <a:path h="2500468" w="7315200">
                <a:moveTo>
                  <a:pt x="0" y="0"/>
                </a:moveTo>
                <a:lnTo>
                  <a:pt x="7315200" y="0"/>
                </a:lnTo>
                <a:lnTo>
                  <a:pt x="7315200" y="2500468"/>
                </a:lnTo>
                <a:lnTo>
                  <a:pt x="0" y="250046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3883068" y="8008066"/>
            <a:ext cx="7315200" cy="2500468"/>
          </a:xfrm>
          <a:custGeom>
            <a:avLst/>
            <a:gdLst/>
            <a:ahLst/>
            <a:cxnLst/>
            <a:rect r="r" b="b" t="t" l="l"/>
            <a:pathLst>
              <a:path h="2500468" w="7315200">
                <a:moveTo>
                  <a:pt x="0" y="0"/>
                </a:moveTo>
                <a:lnTo>
                  <a:pt x="7315200" y="0"/>
                </a:lnTo>
                <a:lnTo>
                  <a:pt x="7315200" y="2500468"/>
                </a:lnTo>
                <a:lnTo>
                  <a:pt x="0" y="250046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6661410" y="-1032184"/>
            <a:ext cx="7315200" cy="2500468"/>
          </a:xfrm>
          <a:custGeom>
            <a:avLst/>
            <a:gdLst/>
            <a:ahLst/>
            <a:cxnLst/>
            <a:rect r="r" b="b" t="t" l="l"/>
            <a:pathLst>
              <a:path h="2500468" w="7315200">
                <a:moveTo>
                  <a:pt x="0" y="0"/>
                </a:moveTo>
                <a:lnTo>
                  <a:pt x="7315200" y="0"/>
                </a:lnTo>
                <a:lnTo>
                  <a:pt x="7315200" y="2500468"/>
                </a:lnTo>
                <a:lnTo>
                  <a:pt x="0" y="250046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2277569" y="1281132"/>
            <a:ext cx="13732863" cy="7724735"/>
          </a:xfrm>
          <a:custGeom>
            <a:avLst/>
            <a:gdLst/>
            <a:ahLst/>
            <a:cxnLst/>
            <a:rect r="r" b="b" t="t" l="l"/>
            <a:pathLst>
              <a:path h="7724735" w="13732863">
                <a:moveTo>
                  <a:pt x="0" y="0"/>
                </a:moveTo>
                <a:lnTo>
                  <a:pt x="13732862" y="0"/>
                </a:lnTo>
                <a:lnTo>
                  <a:pt x="13732862" y="7724736"/>
                </a:lnTo>
                <a:lnTo>
                  <a:pt x="0" y="7724736"/>
                </a:lnTo>
                <a:lnTo>
                  <a:pt x="0" y="0"/>
                </a:lnTo>
                <a:close/>
              </a:path>
            </a:pathLst>
          </a:custGeom>
          <a:blipFill>
            <a:blip r:embed="rId5"/>
            <a:stretch>
              <a:fillRect l="0" t="0" r="0" b="0"/>
            </a:stretch>
          </a:blipFill>
        </p:spPr>
      </p:sp>
      <p:grpSp>
        <p:nvGrpSpPr>
          <p:cNvPr name="Group 9" id="9"/>
          <p:cNvGrpSpPr/>
          <p:nvPr/>
        </p:nvGrpSpPr>
        <p:grpSpPr>
          <a:xfrm rot="0">
            <a:off x="6630335" y="6564777"/>
            <a:ext cx="5027330" cy="763963"/>
            <a:chOff x="0" y="0"/>
            <a:chExt cx="1324070" cy="201208"/>
          </a:xfrm>
        </p:grpSpPr>
        <p:sp>
          <p:nvSpPr>
            <p:cNvPr name="Freeform 10" id="10"/>
            <p:cNvSpPr/>
            <p:nvPr/>
          </p:nvSpPr>
          <p:spPr>
            <a:xfrm flipH="false" flipV="false" rot="0">
              <a:off x="0" y="0"/>
              <a:ext cx="1324070" cy="201208"/>
            </a:xfrm>
            <a:custGeom>
              <a:avLst/>
              <a:gdLst/>
              <a:ahLst/>
              <a:cxnLst/>
              <a:rect r="r" b="b" t="t" l="l"/>
              <a:pathLst>
                <a:path h="201208" w="1324070">
                  <a:moveTo>
                    <a:pt x="30799" y="0"/>
                  </a:moveTo>
                  <a:lnTo>
                    <a:pt x="1293271" y="0"/>
                  </a:lnTo>
                  <a:cubicBezTo>
                    <a:pt x="1301440" y="0"/>
                    <a:pt x="1309274" y="3245"/>
                    <a:pt x="1315050" y="9021"/>
                  </a:cubicBezTo>
                  <a:cubicBezTo>
                    <a:pt x="1320825" y="14797"/>
                    <a:pt x="1324070" y="22631"/>
                    <a:pt x="1324070" y="30799"/>
                  </a:cubicBezTo>
                  <a:lnTo>
                    <a:pt x="1324070" y="170409"/>
                  </a:lnTo>
                  <a:cubicBezTo>
                    <a:pt x="1324070" y="178578"/>
                    <a:pt x="1320825" y="186411"/>
                    <a:pt x="1315050" y="192187"/>
                  </a:cubicBezTo>
                  <a:cubicBezTo>
                    <a:pt x="1309274" y="197963"/>
                    <a:pt x="1301440" y="201208"/>
                    <a:pt x="1293271" y="201208"/>
                  </a:cubicBezTo>
                  <a:lnTo>
                    <a:pt x="30799" y="201208"/>
                  </a:lnTo>
                  <a:cubicBezTo>
                    <a:pt x="22631" y="201208"/>
                    <a:pt x="14797" y="197963"/>
                    <a:pt x="9021" y="192187"/>
                  </a:cubicBezTo>
                  <a:cubicBezTo>
                    <a:pt x="3245" y="186411"/>
                    <a:pt x="0" y="178578"/>
                    <a:pt x="0" y="170409"/>
                  </a:cubicBezTo>
                  <a:lnTo>
                    <a:pt x="0" y="30799"/>
                  </a:lnTo>
                  <a:cubicBezTo>
                    <a:pt x="0" y="22631"/>
                    <a:pt x="3245" y="14797"/>
                    <a:pt x="9021" y="9021"/>
                  </a:cubicBezTo>
                  <a:cubicBezTo>
                    <a:pt x="14797" y="3245"/>
                    <a:pt x="22631" y="0"/>
                    <a:pt x="30799" y="0"/>
                  </a:cubicBezTo>
                  <a:close/>
                </a:path>
              </a:pathLst>
            </a:custGeom>
            <a:solidFill>
              <a:srgbClr val="FFB5EA"/>
            </a:solidFill>
            <a:ln w="28575" cap="sq">
              <a:solidFill>
                <a:srgbClr val="313131"/>
              </a:solidFill>
              <a:prstDash val="solid"/>
              <a:miter/>
            </a:ln>
          </p:spPr>
        </p:sp>
        <p:sp>
          <p:nvSpPr>
            <p:cNvPr name="TextBox 11" id="11"/>
            <p:cNvSpPr txBox="true"/>
            <p:nvPr/>
          </p:nvSpPr>
          <p:spPr>
            <a:xfrm>
              <a:off x="0" y="-38100"/>
              <a:ext cx="1324070" cy="239308"/>
            </a:xfrm>
            <a:prstGeom prst="rect">
              <a:avLst/>
            </a:prstGeom>
          </p:spPr>
          <p:txBody>
            <a:bodyPr anchor="ctr" rtlCol="false" tIns="50800" lIns="50800" bIns="50800" rIns="50800"/>
            <a:lstStyle/>
            <a:p>
              <a:pPr algn="ctr">
                <a:lnSpc>
                  <a:spcPts val="2659"/>
                </a:lnSpc>
                <a:spcBef>
                  <a:spcPct val="0"/>
                </a:spcBef>
              </a:pPr>
            </a:p>
          </p:txBody>
        </p:sp>
      </p:grpSp>
      <p:sp>
        <p:nvSpPr>
          <p:cNvPr name="TextBox 12" id="12"/>
          <p:cNvSpPr txBox="true"/>
          <p:nvPr/>
        </p:nvSpPr>
        <p:spPr>
          <a:xfrm rot="0">
            <a:off x="7071823" y="6661534"/>
            <a:ext cx="4144353" cy="503774"/>
          </a:xfrm>
          <a:prstGeom prst="rect">
            <a:avLst/>
          </a:prstGeom>
        </p:spPr>
        <p:txBody>
          <a:bodyPr anchor="t" rtlCol="false" tIns="0" lIns="0" bIns="0" rIns="0">
            <a:spAutoFit/>
          </a:bodyPr>
          <a:lstStyle/>
          <a:p>
            <a:pPr algn="ctr" marL="0" indent="0" lvl="0">
              <a:lnSpc>
                <a:spcPts val="4039"/>
              </a:lnSpc>
              <a:spcBef>
                <a:spcPct val="0"/>
              </a:spcBef>
            </a:pPr>
            <a:r>
              <a:rPr lang="en-US" sz="2885">
                <a:solidFill>
                  <a:srgbClr val="000000"/>
                </a:solidFill>
                <a:latin typeface="Inter"/>
                <a:ea typeface="Inter"/>
                <a:cs typeface="Inter"/>
                <a:sym typeface="Inter"/>
              </a:rPr>
              <a:t>NAMA: Muhammad Rafi</a:t>
            </a:r>
          </a:p>
        </p:txBody>
      </p:sp>
      <p:sp>
        <p:nvSpPr>
          <p:cNvPr name="Freeform 13" id="13"/>
          <p:cNvSpPr/>
          <p:nvPr/>
        </p:nvSpPr>
        <p:spPr>
          <a:xfrm flipH="false" flipV="false" rot="-2478875">
            <a:off x="12418257" y="5844268"/>
            <a:ext cx="732146" cy="983168"/>
          </a:xfrm>
          <a:custGeom>
            <a:avLst/>
            <a:gdLst/>
            <a:ahLst/>
            <a:cxnLst/>
            <a:rect r="r" b="b" t="t" l="l"/>
            <a:pathLst>
              <a:path h="983168" w="732146">
                <a:moveTo>
                  <a:pt x="0" y="0"/>
                </a:moveTo>
                <a:lnTo>
                  <a:pt x="732147" y="0"/>
                </a:lnTo>
                <a:lnTo>
                  <a:pt x="732147" y="983169"/>
                </a:lnTo>
                <a:lnTo>
                  <a:pt x="0" y="9831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4" id="14"/>
          <p:cNvSpPr txBox="true"/>
          <p:nvPr/>
        </p:nvSpPr>
        <p:spPr>
          <a:xfrm rot="0">
            <a:off x="4282342" y="2929674"/>
            <a:ext cx="9723317" cy="3635102"/>
          </a:xfrm>
          <a:prstGeom prst="rect">
            <a:avLst/>
          </a:prstGeom>
        </p:spPr>
        <p:txBody>
          <a:bodyPr anchor="t" rtlCol="false" tIns="0" lIns="0" bIns="0" rIns="0">
            <a:spAutoFit/>
          </a:bodyPr>
          <a:lstStyle/>
          <a:p>
            <a:pPr algn="ctr">
              <a:lnSpc>
                <a:spcPts val="13015"/>
              </a:lnSpc>
            </a:pPr>
            <a:r>
              <a:rPr lang="en-US" sz="12886">
                <a:solidFill>
                  <a:srgbClr val="000000"/>
                </a:solidFill>
                <a:latin typeface="Chunk Five"/>
                <a:ea typeface="Chunk Five"/>
                <a:cs typeface="Chunk Five"/>
                <a:sym typeface="Chunk Five"/>
              </a:rPr>
              <a:t>TERIMA</a:t>
            </a:r>
          </a:p>
          <a:p>
            <a:pPr algn="ctr">
              <a:lnSpc>
                <a:spcPts val="13015"/>
              </a:lnSpc>
            </a:pPr>
            <a:r>
              <a:rPr lang="en-US" sz="12886">
                <a:solidFill>
                  <a:srgbClr val="000000"/>
                </a:solidFill>
                <a:latin typeface="Chunk Five"/>
                <a:ea typeface="Chunk Five"/>
                <a:cs typeface="Chunk Five"/>
                <a:sym typeface="Chunk Five"/>
              </a:rPr>
              <a:t>KASIH</a:t>
            </a:r>
          </a:p>
        </p:txBody>
      </p:sp>
      <p:sp>
        <p:nvSpPr>
          <p:cNvPr name="Freeform 15" id="15"/>
          <p:cNvSpPr/>
          <p:nvPr/>
        </p:nvSpPr>
        <p:spPr>
          <a:xfrm flipH="false" flipV="false" rot="707332">
            <a:off x="14274863" y="1751212"/>
            <a:ext cx="618235" cy="989177"/>
          </a:xfrm>
          <a:custGeom>
            <a:avLst/>
            <a:gdLst/>
            <a:ahLst/>
            <a:cxnLst/>
            <a:rect r="r" b="b" t="t" l="l"/>
            <a:pathLst>
              <a:path h="989177" w="618235">
                <a:moveTo>
                  <a:pt x="0" y="0"/>
                </a:moveTo>
                <a:lnTo>
                  <a:pt x="618236" y="0"/>
                </a:lnTo>
                <a:lnTo>
                  <a:pt x="618236" y="989177"/>
                </a:lnTo>
                <a:lnTo>
                  <a:pt x="0" y="98917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6" id="16"/>
          <p:cNvSpPr/>
          <p:nvPr/>
        </p:nvSpPr>
        <p:spPr>
          <a:xfrm flipH="false" flipV="false" rot="69513">
            <a:off x="1550777" y="5725804"/>
            <a:ext cx="2170896" cy="1911684"/>
          </a:xfrm>
          <a:custGeom>
            <a:avLst/>
            <a:gdLst/>
            <a:ahLst/>
            <a:cxnLst/>
            <a:rect r="r" b="b" t="t" l="l"/>
            <a:pathLst>
              <a:path h="1911684" w="2170896">
                <a:moveTo>
                  <a:pt x="0" y="0"/>
                </a:moveTo>
                <a:lnTo>
                  <a:pt x="2170895" y="0"/>
                </a:lnTo>
                <a:lnTo>
                  <a:pt x="2170895" y="1911684"/>
                </a:lnTo>
                <a:lnTo>
                  <a:pt x="0" y="191168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DAG7TqJcENw</dc:identifier>
  <dcterms:modified xsi:type="dcterms:W3CDTF">2011-08-01T06:04:30Z</dcterms:modified>
  <cp:revision>1</cp:revision>
  <dc:title>Krem dan Hijau Retro Tugas Kelompok Presentasi</dc:title>
</cp:coreProperties>
</file>